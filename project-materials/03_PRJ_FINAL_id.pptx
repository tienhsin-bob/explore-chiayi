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Poppins Bold" charset="1" panose="00000800000000000000"/>
      <p:regular r:id="rId40"/>
    </p:embeddedFont>
    <p:embeddedFont>
      <p:font typeface="芫荽" charset="1" panose="00000000000000000000"/>
      <p:regular r:id="rId41"/>
    </p:embeddedFont>
    <p:embeddedFont>
      <p:font typeface="Canva Sans Bold" charset="1" panose="020B0803030501040103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8.png" Type="http://schemas.openxmlformats.org/officeDocument/2006/relationships/image"/><Relationship Id="rId5" Target="../media/image11.png" Type="http://schemas.openxmlformats.org/officeDocument/2006/relationships/image"/><Relationship Id="rId6" Target="../media/image19.png" Type="http://schemas.openxmlformats.org/officeDocument/2006/relationships/image"/><Relationship Id="rId7" Target="../media/image7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3035" y="-4375722"/>
            <a:ext cx="12102391" cy="121023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843498" y="-2726185"/>
            <a:ext cx="8803317" cy="88033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65605" y="-3872791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1" y="0"/>
                </a:lnTo>
                <a:lnTo>
                  <a:pt x="13131091" y="13131091"/>
                </a:lnTo>
                <a:lnTo>
                  <a:pt x="0" y="13131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40325" y="4193455"/>
            <a:ext cx="7607350" cy="4887723"/>
          </a:xfrm>
          <a:custGeom>
            <a:avLst/>
            <a:gdLst/>
            <a:ahLst/>
            <a:cxnLst/>
            <a:rect r="r" b="b" t="t" l="l"/>
            <a:pathLst>
              <a:path h="4887723" w="7607350">
                <a:moveTo>
                  <a:pt x="0" y="0"/>
                </a:moveTo>
                <a:lnTo>
                  <a:pt x="7607350" y="0"/>
                </a:lnTo>
                <a:lnTo>
                  <a:pt x="7607350" y="4887722"/>
                </a:lnTo>
                <a:lnTo>
                  <a:pt x="0" y="4887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85090" y="1837109"/>
            <a:ext cx="14317820" cy="289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Final Project </a:t>
            </a:r>
          </a:p>
          <a:p>
            <a:pPr algn="l">
              <a:lnSpc>
                <a:spcPts val="100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756889" y="9014502"/>
            <a:ext cx="6774222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C74"/>
                </a:solidFill>
                <a:latin typeface="芫荽"/>
                <a:ea typeface="芫荽"/>
                <a:cs typeface="芫荽"/>
                <a:sym typeface="芫荽"/>
              </a:rPr>
              <a:t>1114536 劉又榛、1122928 呂天馨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35233" y="3567979"/>
            <a:ext cx="10417535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行動裝置應用程式設計 期末專題 Explore Chiayi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93039" y="5939751"/>
            <a:ext cx="15108428" cy="1510842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16308" y="6446636"/>
            <a:ext cx="14094659" cy="1409465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5950" y="2556799"/>
            <a:ext cx="894563" cy="8945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84955" y="8363737"/>
            <a:ext cx="894563" cy="89456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81972" y="4008533"/>
            <a:ext cx="894563" cy="89456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82966" y="5460268"/>
            <a:ext cx="894563" cy="89456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83961" y="6912003"/>
            <a:ext cx="894563" cy="89456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58035" y="686117"/>
            <a:ext cx="33225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3999" spc="207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Outline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68401" y="2571645"/>
            <a:ext cx="2652734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C2CDFF"/>
                </a:solidFill>
                <a:latin typeface="Poppins Bold"/>
                <a:ea typeface="Poppins Bold"/>
                <a:cs typeface="Poppins Bold"/>
                <a:sym typeface="Poppins Bold"/>
              </a:rPr>
              <a:t>製作動機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68401" y="8378584"/>
            <a:ext cx="32715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C2CDFF"/>
                </a:solidFill>
                <a:latin typeface="Poppins Bold"/>
                <a:ea typeface="Poppins Bold"/>
                <a:cs typeface="Poppins Bold"/>
                <a:sym typeface="Poppins Bold"/>
              </a:rPr>
              <a:t>系統架構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68401" y="5478800"/>
            <a:ext cx="232364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C2CDFF"/>
                </a:solidFill>
                <a:latin typeface="Poppins Bold"/>
                <a:ea typeface="Poppins Bold"/>
                <a:cs typeface="Poppins Bold"/>
                <a:sym typeface="Poppins Bold"/>
              </a:rPr>
              <a:t>特殊功能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68401" y="4023380"/>
            <a:ext cx="2455248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C2CDFF"/>
                </a:solidFill>
                <a:latin typeface="Poppins Bold"/>
                <a:ea typeface="Poppins Bold"/>
                <a:cs typeface="Poppins Bold"/>
                <a:sym typeface="Poppins Bold"/>
              </a:rPr>
              <a:t>解決痛點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68401" y="6934220"/>
            <a:ext cx="2944733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C2CDFF"/>
                </a:solidFill>
                <a:latin typeface="Poppins Bold"/>
                <a:ea typeface="Poppins Bold"/>
                <a:cs typeface="Poppins Bold"/>
                <a:sym typeface="Poppins Bold"/>
              </a:rPr>
              <a:t>使用AI工具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557413" y="1539249"/>
            <a:ext cx="7734742" cy="894563"/>
            <a:chOff x="0" y="0"/>
            <a:chExt cx="10312989" cy="119275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192750" cy="119275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b="true" sz="2499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6</a:t>
                </a: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844594" y="57895"/>
              <a:ext cx="8468396" cy="96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C2CD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使用者操作畫面介紹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57413" y="4084343"/>
            <a:ext cx="9877734" cy="1379220"/>
            <a:chOff x="0" y="0"/>
            <a:chExt cx="13170311" cy="183896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285083"/>
              <a:ext cx="1192750" cy="1192750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b="true" sz="2499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8</a:t>
                </a: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844594" y="-114300"/>
              <a:ext cx="11325718" cy="1953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C2CD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各種媒體資料儲存、資料SCHEMA與APP中資料介接方式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557413" y="5841547"/>
            <a:ext cx="4654945" cy="894563"/>
            <a:chOff x="0" y="0"/>
            <a:chExt cx="6206594" cy="119275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1192750" cy="1192750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b="true" sz="2499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9</a:t>
                </a: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844594" y="57895"/>
              <a:ext cx="4362000" cy="96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C2CD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技術突破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57413" y="2811796"/>
            <a:ext cx="8640792" cy="894563"/>
            <a:chOff x="0" y="0"/>
            <a:chExt cx="11521055" cy="119275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192750" cy="1192750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b="true" sz="2499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7</a:t>
                </a: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1844594" y="57895"/>
              <a:ext cx="9676462" cy="96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C2CD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管理者端操作畫面介紹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57413" y="8681872"/>
            <a:ext cx="7453830" cy="894563"/>
            <a:chOff x="0" y="0"/>
            <a:chExt cx="9938440" cy="1192750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1192750" cy="1192750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b="true" sz="2499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11</a:t>
                </a: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1844594" y="57895"/>
              <a:ext cx="8093846" cy="96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C2CD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組內分工比例與心得分享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557413" y="7280182"/>
            <a:ext cx="7453830" cy="894563"/>
            <a:chOff x="0" y="0"/>
            <a:chExt cx="9938440" cy="1192750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1192750" cy="1192750"/>
              <a:chOff x="0" y="0"/>
              <a:chExt cx="812800" cy="8128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b="true" sz="2499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10</a:t>
                </a: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1844594" y="57895"/>
              <a:ext cx="8093846" cy="96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C2CD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結論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71039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177000" y="5582174"/>
            <a:ext cx="5934000" cy="4125123"/>
          </a:xfrm>
          <a:custGeom>
            <a:avLst/>
            <a:gdLst/>
            <a:ahLst/>
            <a:cxnLst/>
            <a:rect r="r" b="b" t="t" l="l"/>
            <a:pathLst>
              <a:path h="4125123" w="5934000">
                <a:moveTo>
                  <a:pt x="0" y="0"/>
                </a:moveTo>
                <a:lnTo>
                  <a:pt x="5934000" y="0"/>
                </a:lnTo>
                <a:lnTo>
                  <a:pt x="5934000" y="4125123"/>
                </a:lnTo>
                <a:lnTo>
                  <a:pt x="0" y="4125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1804" y="1590731"/>
            <a:ext cx="16982176" cy="339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</a:p>
          <a:p>
            <a:pPr algn="l" marL="734059" indent="-367030" lvl="1">
              <a:lnSpc>
                <a:spcPts val="849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諸羅城的魅力： 沉澱百年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的歷史底蘊，與吃不完的在(火)地(雞)美(肉)食(飯)</a:t>
            </a:r>
          </a:p>
          <a:p>
            <a:pPr algn="l" marL="734059" indent="-367030" lvl="1">
              <a:lnSpc>
                <a:spcPts val="849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旅客的痛點： 旅遊資訊太雜碎，查個攻略要在社群、地圖與公車 App 間瘋狂切換</a:t>
            </a:r>
          </a:p>
          <a:p>
            <a:pPr algn="l" marL="734059" indent="-367030" lvl="1">
              <a:lnSpc>
                <a:spcPts val="849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我們的解法： 開發探索諸羅 App，把所有嘉義遊玩資訊放在裡面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製作動機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痛點一：資訊碎片化，排行程耗時費力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804" y="2840335"/>
            <a:ext cx="16982176" cy="529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119"/>
              </a:lnSpc>
              <a:buFont typeface="Arial"/>
              <a:buChar char="•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現況描述</a:t>
            </a:r>
          </a:p>
          <a:p>
            <a:pPr algn="l" marL="1468119" indent="-489373" lvl="2">
              <a:lnSpc>
                <a:spcPts val="6119"/>
              </a:lnSpc>
              <a:buFont typeface="Arial"/>
              <a:buChar char="⚬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嘉義市資訊零散分佈於社群媒體、各個網站，導致旅客在規劃自由行時，需花費數小時跨平台爬文、比對營業時間，排行程麻煩</a:t>
            </a:r>
          </a:p>
          <a:p>
            <a:pPr algn="l" marL="734059" indent="-367030" lvl="1">
              <a:lnSpc>
                <a:spcPts val="6119"/>
              </a:lnSpc>
              <a:buFont typeface="Arial"/>
              <a:buChar char="•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本專案解法</a:t>
            </a:r>
          </a:p>
          <a:p>
            <a:pPr algn="l" marL="1468119" indent="-489373" lvl="2">
              <a:lnSpc>
                <a:spcPts val="6119"/>
              </a:lnSpc>
              <a:buFont typeface="Arial"/>
              <a:buChar char="⚬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建立結構化的「在地美食與景點 Firestore 資料庫」，一站式整合所有資訊，省去使用者切換搜尋的時間</a:t>
            </a: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解決痛點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痛點二：傳統旅遊動線死板，無法滿足個性化需求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804" y="2840335"/>
            <a:ext cx="16982176" cy="529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119"/>
              </a:lnSpc>
              <a:buFont typeface="Arial"/>
              <a:buChar char="•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現況描述</a:t>
            </a:r>
          </a:p>
          <a:p>
            <a:pPr algn="l" marL="1468119" indent="-489373" lvl="2">
              <a:lnSpc>
                <a:spcPts val="6119"/>
              </a:lnSpc>
              <a:buFont typeface="Arial"/>
              <a:buChar char="⚬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市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面上的懶人包或傳統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旅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遊 App 多提供固定的「罐頭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行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程」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，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難以同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時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滿足「親子同樂」、「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文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青網美」或「單純吃貨」等高度差異化的自由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行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旅客需求</a:t>
            </a:r>
          </a:p>
          <a:p>
            <a:pPr algn="l" marL="734059" indent="-367030" lvl="1">
              <a:lnSpc>
                <a:spcPts val="6119"/>
              </a:lnSpc>
              <a:buFont typeface="Arial"/>
              <a:buChar char="•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本專案解法</a:t>
            </a:r>
          </a:p>
          <a:p>
            <a:pPr algn="l" marL="1468119" indent="-489373" lvl="2">
              <a:lnSpc>
                <a:spcPts val="6119"/>
              </a:lnSpc>
              <a:buFont typeface="Arial"/>
              <a:buChar char="⚬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導入 Google Gemini AI 智慧行程規劃技術。使用者只需以自然語言輸入天數與特殊偏好，AI 即可動態生成客製化的最佳動線</a:t>
            </a: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解決痛點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痛點三：自由行旅客的即時交通問題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804" y="2840335"/>
            <a:ext cx="16982176" cy="529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119"/>
              </a:lnSpc>
              <a:buFont typeface="Arial"/>
              <a:buChar char="•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現況描述</a:t>
            </a:r>
          </a:p>
          <a:p>
            <a:pPr algn="l" marL="1468119" indent="-489373" lvl="2">
              <a:lnSpc>
                <a:spcPts val="6119"/>
              </a:lnSpc>
              <a:buFont typeface="Arial"/>
              <a:buChar char="⚬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自由行旅客高度依賴 YouBike 與公車，但常遇到「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頂著大太陽走到站點才發現沒車可借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」或「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不確定公車何時到站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」的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窘境，這問題導致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旅</a:t>
            </a: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遊體驗非常不好</a:t>
            </a:r>
          </a:p>
          <a:p>
            <a:pPr algn="l" marL="734059" indent="-367030" lvl="1">
              <a:lnSpc>
                <a:spcPts val="6119"/>
              </a:lnSpc>
              <a:buFont typeface="Arial"/>
              <a:buChar char="•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本專案解法</a:t>
            </a:r>
          </a:p>
          <a:p>
            <a:pPr algn="l" marL="1468119" indent="-489373" lvl="2">
              <a:lnSpc>
                <a:spcPts val="6119"/>
              </a:lnSpc>
              <a:buFont typeface="Arial"/>
              <a:buChar char="⚬"/>
            </a:pPr>
            <a:r>
              <a:rPr lang="en-US" b="true" sz="33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串接即時交通數據來源，將公車動態與 UBike 剩餘量、可借量即時渲染在 OpenStreetMap 地圖上，徹底消除資訊不對稱</a:t>
            </a: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解決痛點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即時天氣資訊串接 :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521668" y="596540"/>
            <a:ext cx="4932824" cy="1034501"/>
            <a:chOff x="0" y="0"/>
            <a:chExt cx="1349913" cy="283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9913" cy="283101"/>
            </a:xfrm>
            <a:custGeom>
              <a:avLst/>
              <a:gdLst/>
              <a:ahLst/>
              <a:cxnLst/>
              <a:rect r="r" b="b" t="t" l="l"/>
              <a:pathLst>
                <a:path h="283101" w="1349913">
                  <a:moveTo>
                    <a:pt x="58070" y="0"/>
                  </a:moveTo>
                  <a:lnTo>
                    <a:pt x="1291843" y="0"/>
                  </a:lnTo>
                  <a:cubicBezTo>
                    <a:pt x="1307244" y="0"/>
                    <a:pt x="1322015" y="6118"/>
                    <a:pt x="1332905" y="17008"/>
                  </a:cubicBezTo>
                  <a:cubicBezTo>
                    <a:pt x="1343795" y="27899"/>
                    <a:pt x="1349913" y="42669"/>
                    <a:pt x="1349913" y="58070"/>
                  </a:cubicBezTo>
                  <a:lnTo>
                    <a:pt x="1349913" y="225030"/>
                  </a:lnTo>
                  <a:cubicBezTo>
                    <a:pt x="1349913" y="257102"/>
                    <a:pt x="1323914" y="283101"/>
                    <a:pt x="1291843" y="283101"/>
                  </a:cubicBezTo>
                  <a:lnTo>
                    <a:pt x="58070" y="283101"/>
                  </a:lnTo>
                  <a:cubicBezTo>
                    <a:pt x="25999" y="283101"/>
                    <a:pt x="0" y="257102"/>
                    <a:pt x="0" y="225030"/>
                  </a:cubicBezTo>
                  <a:lnTo>
                    <a:pt x="0" y="58070"/>
                  </a:lnTo>
                  <a:cubicBezTo>
                    <a:pt x="0" y="25999"/>
                    <a:pt x="25999" y="0"/>
                    <a:pt x="580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49913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807311" y="428552"/>
            <a:ext cx="4243454" cy="9429897"/>
          </a:xfrm>
          <a:custGeom>
            <a:avLst/>
            <a:gdLst/>
            <a:ahLst/>
            <a:cxnLst/>
            <a:rect r="r" b="b" t="t" l="l"/>
            <a:pathLst>
              <a:path h="9429897" w="4243454">
                <a:moveTo>
                  <a:pt x="0" y="0"/>
                </a:moveTo>
                <a:lnTo>
                  <a:pt x="4243454" y="0"/>
                </a:lnTo>
                <a:lnTo>
                  <a:pt x="4243454" y="9429896"/>
                </a:lnTo>
                <a:lnTo>
                  <a:pt x="0" y="9429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655306" y="2575520"/>
            <a:ext cx="4528415" cy="771596"/>
            <a:chOff x="0" y="0"/>
            <a:chExt cx="1192669" cy="2032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2669" cy="203219"/>
            </a:xfrm>
            <a:custGeom>
              <a:avLst/>
              <a:gdLst/>
              <a:ahLst/>
              <a:cxnLst/>
              <a:rect r="r" b="b" t="t" l="l"/>
              <a:pathLst>
                <a:path h="203219" w="1192669">
                  <a:moveTo>
                    <a:pt x="0" y="0"/>
                  </a:moveTo>
                  <a:lnTo>
                    <a:pt x="1192669" y="0"/>
                  </a:lnTo>
                  <a:lnTo>
                    <a:pt x="1192669" y="203219"/>
                  </a:lnTo>
                  <a:lnTo>
                    <a:pt x="0" y="203219"/>
                  </a:lnTo>
                  <a:close/>
                </a:path>
              </a:pathLst>
            </a:custGeom>
            <a:solidFill>
              <a:srgbClr val="F4A0A0">
                <a:alpha val="5882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92669" cy="241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21804" y="2964160"/>
            <a:ext cx="8813279" cy="403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串接中央氣象署，提供即時的嘉義市天氣概況、氣溫與降雨機率預報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讓旅客在安排火雞肉飯美食巡禮或戶外景點時，能提前掌握天候變化，彈性調整旅遊路線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特殊功能-1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21668" y="596540"/>
            <a:ext cx="4932824" cy="1034501"/>
            <a:chOff x="0" y="0"/>
            <a:chExt cx="1349913" cy="2831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9913" cy="283101"/>
            </a:xfrm>
            <a:custGeom>
              <a:avLst/>
              <a:gdLst/>
              <a:ahLst/>
              <a:cxnLst/>
              <a:rect r="r" b="b" t="t" l="l"/>
              <a:pathLst>
                <a:path h="283101" w="1349913">
                  <a:moveTo>
                    <a:pt x="58070" y="0"/>
                  </a:moveTo>
                  <a:lnTo>
                    <a:pt x="1291843" y="0"/>
                  </a:lnTo>
                  <a:cubicBezTo>
                    <a:pt x="1307244" y="0"/>
                    <a:pt x="1322015" y="6118"/>
                    <a:pt x="1332905" y="17008"/>
                  </a:cubicBezTo>
                  <a:cubicBezTo>
                    <a:pt x="1343795" y="27899"/>
                    <a:pt x="1349913" y="42669"/>
                    <a:pt x="1349913" y="58070"/>
                  </a:cubicBezTo>
                  <a:lnTo>
                    <a:pt x="1349913" y="225030"/>
                  </a:lnTo>
                  <a:cubicBezTo>
                    <a:pt x="1349913" y="257102"/>
                    <a:pt x="1323914" y="283101"/>
                    <a:pt x="1291843" y="283101"/>
                  </a:cubicBezTo>
                  <a:lnTo>
                    <a:pt x="58070" y="283101"/>
                  </a:lnTo>
                  <a:cubicBezTo>
                    <a:pt x="25999" y="283101"/>
                    <a:pt x="0" y="257102"/>
                    <a:pt x="0" y="225030"/>
                  </a:cubicBezTo>
                  <a:lnTo>
                    <a:pt x="0" y="58070"/>
                  </a:lnTo>
                  <a:cubicBezTo>
                    <a:pt x="0" y="25999"/>
                    <a:pt x="25999" y="0"/>
                    <a:pt x="580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49913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在地觀光新聞即時同步 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1804" y="2964160"/>
            <a:ext cx="8262353" cy="324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</a:pPr>
          </a:p>
          <a:p>
            <a:pPr algn="just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內建自動化爬蟲機制，一鍵抓取嘉義市政府最新觀光消息，並以輪播動態呈現，確保旅客不錯過任何活動與交通管制資訊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特殊功能-2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807311" y="428552"/>
            <a:ext cx="4243454" cy="9429897"/>
          </a:xfrm>
          <a:custGeom>
            <a:avLst/>
            <a:gdLst/>
            <a:ahLst/>
            <a:cxnLst/>
            <a:rect r="r" b="b" t="t" l="l"/>
            <a:pathLst>
              <a:path h="9429897" w="4243454">
                <a:moveTo>
                  <a:pt x="0" y="0"/>
                </a:moveTo>
                <a:lnTo>
                  <a:pt x="4243454" y="0"/>
                </a:lnTo>
                <a:lnTo>
                  <a:pt x="4243454" y="9429896"/>
                </a:lnTo>
                <a:lnTo>
                  <a:pt x="0" y="9429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655306" y="6665877"/>
            <a:ext cx="4528415" cy="771596"/>
            <a:chOff x="0" y="0"/>
            <a:chExt cx="1192669" cy="2032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2669" cy="203219"/>
            </a:xfrm>
            <a:custGeom>
              <a:avLst/>
              <a:gdLst/>
              <a:ahLst/>
              <a:cxnLst/>
              <a:rect r="r" b="b" t="t" l="l"/>
              <a:pathLst>
                <a:path h="203219" w="1192669">
                  <a:moveTo>
                    <a:pt x="0" y="0"/>
                  </a:moveTo>
                  <a:lnTo>
                    <a:pt x="1192669" y="0"/>
                  </a:lnTo>
                  <a:lnTo>
                    <a:pt x="1192669" y="203219"/>
                  </a:lnTo>
                  <a:lnTo>
                    <a:pt x="0" y="203219"/>
                  </a:lnTo>
                  <a:close/>
                </a:path>
              </a:pathLst>
            </a:custGeom>
            <a:solidFill>
              <a:srgbClr val="F4A0A0">
                <a:alpha val="5882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92669" cy="241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21668" y="596540"/>
            <a:ext cx="4932824" cy="1034501"/>
            <a:chOff x="0" y="0"/>
            <a:chExt cx="1349913" cy="2831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9913" cy="283101"/>
            </a:xfrm>
            <a:custGeom>
              <a:avLst/>
              <a:gdLst/>
              <a:ahLst/>
              <a:cxnLst/>
              <a:rect r="r" b="b" t="t" l="l"/>
              <a:pathLst>
                <a:path h="283101" w="1349913">
                  <a:moveTo>
                    <a:pt x="58070" y="0"/>
                  </a:moveTo>
                  <a:lnTo>
                    <a:pt x="1291843" y="0"/>
                  </a:lnTo>
                  <a:cubicBezTo>
                    <a:pt x="1307244" y="0"/>
                    <a:pt x="1322015" y="6118"/>
                    <a:pt x="1332905" y="17008"/>
                  </a:cubicBezTo>
                  <a:cubicBezTo>
                    <a:pt x="1343795" y="27899"/>
                    <a:pt x="1349913" y="42669"/>
                    <a:pt x="1349913" y="58070"/>
                  </a:cubicBezTo>
                  <a:lnTo>
                    <a:pt x="1349913" y="225030"/>
                  </a:lnTo>
                  <a:cubicBezTo>
                    <a:pt x="1349913" y="257102"/>
                    <a:pt x="1323914" y="283101"/>
                    <a:pt x="1291843" y="283101"/>
                  </a:cubicBezTo>
                  <a:lnTo>
                    <a:pt x="58070" y="283101"/>
                  </a:lnTo>
                  <a:cubicBezTo>
                    <a:pt x="25999" y="283101"/>
                    <a:pt x="0" y="257102"/>
                    <a:pt x="0" y="225030"/>
                  </a:cubicBezTo>
                  <a:lnTo>
                    <a:pt x="0" y="58070"/>
                  </a:lnTo>
                  <a:cubicBezTo>
                    <a:pt x="0" y="25999"/>
                    <a:pt x="25999" y="0"/>
                    <a:pt x="580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49913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115293" y="596540"/>
            <a:ext cx="4144007" cy="9208905"/>
          </a:xfrm>
          <a:custGeom>
            <a:avLst/>
            <a:gdLst/>
            <a:ahLst/>
            <a:cxnLst/>
            <a:rect r="r" b="b" t="t" l="l"/>
            <a:pathLst>
              <a:path h="9208905" w="4144007">
                <a:moveTo>
                  <a:pt x="0" y="0"/>
                </a:moveTo>
                <a:lnTo>
                  <a:pt x="4144007" y="0"/>
                </a:lnTo>
                <a:lnTo>
                  <a:pt x="4144007" y="9208905"/>
                </a:lnTo>
                <a:lnTo>
                  <a:pt x="0" y="920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195806" y="596540"/>
            <a:ext cx="4144007" cy="9208905"/>
          </a:xfrm>
          <a:custGeom>
            <a:avLst/>
            <a:gdLst/>
            <a:ahLst/>
            <a:cxnLst/>
            <a:rect r="r" b="b" t="t" l="l"/>
            <a:pathLst>
              <a:path h="9208905" w="4144007">
                <a:moveTo>
                  <a:pt x="0" y="0"/>
                </a:moveTo>
                <a:lnTo>
                  <a:pt x="4144007" y="0"/>
                </a:lnTo>
                <a:lnTo>
                  <a:pt x="4144007" y="9208905"/>
                </a:lnTo>
                <a:lnTo>
                  <a:pt x="0" y="9208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大眾運輸即時串接 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804" y="2992735"/>
            <a:ext cx="7084512" cy="254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</a:p>
          <a:p>
            <a:pPr algn="just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串接交通部 TDX 平台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，提供即時的公車與 YouBike 站點資訊，讓旅客隨時掌握交通狀況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特殊功能-3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21668" y="596540"/>
            <a:ext cx="4932824" cy="1034501"/>
            <a:chOff x="0" y="0"/>
            <a:chExt cx="1349913" cy="2831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9913" cy="283101"/>
            </a:xfrm>
            <a:custGeom>
              <a:avLst/>
              <a:gdLst/>
              <a:ahLst/>
              <a:cxnLst/>
              <a:rect r="r" b="b" t="t" l="l"/>
              <a:pathLst>
                <a:path h="283101" w="1349913">
                  <a:moveTo>
                    <a:pt x="58070" y="0"/>
                  </a:moveTo>
                  <a:lnTo>
                    <a:pt x="1291843" y="0"/>
                  </a:lnTo>
                  <a:cubicBezTo>
                    <a:pt x="1307244" y="0"/>
                    <a:pt x="1322015" y="6118"/>
                    <a:pt x="1332905" y="17008"/>
                  </a:cubicBezTo>
                  <a:cubicBezTo>
                    <a:pt x="1343795" y="27899"/>
                    <a:pt x="1349913" y="42669"/>
                    <a:pt x="1349913" y="58070"/>
                  </a:cubicBezTo>
                  <a:lnTo>
                    <a:pt x="1349913" y="225030"/>
                  </a:lnTo>
                  <a:cubicBezTo>
                    <a:pt x="1349913" y="257102"/>
                    <a:pt x="1323914" y="283101"/>
                    <a:pt x="1291843" y="283101"/>
                  </a:cubicBezTo>
                  <a:lnTo>
                    <a:pt x="58070" y="283101"/>
                  </a:lnTo>
                  <a:cubicBezTo>
                    <a:pt x="25999" y="283101"/>
                    <a:pt x="0" y="257102"/>
                    <a:pt x="0" y="225030"/>
                  </a:cubicBezTo>
                  <a:lnTo>
                    <a:pt x="0" y="58070"/>
                  </a:lnTo>
                  <a:cubicBezTo>
                    <a:pt x="0" y="25999"/>
                    <a:pt x="25999" y="0"/>
                    <a:pt x="580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49913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990850" y="454310"/>
            <a:ext cx="4220271" cy="9378380"/>
          </a:xfrm>
          <a:custGeom>
            <a:avLst/>
            <a:gdLst/>
            <a:ahLst/>
            <a:cxnLst/>
            <a:rect r="r" b="b" t="t" l="l"/>
            <a:pathLst>
              <a:path h="9378380" w="4220271">
                <a:moveTo>
                  <a:pt x="0" y="0"/>
                </a:moveTo>
                <a:lnTo>
                  <a:pt x="4220271" y="0"/>
                </a:lnTo>
                <a:lnTo>
                  <a:pt x="4220271" y="9378380"/>
                </a:lnTo>
                <a:lnTo>
                  <a:pt x="0" y="9378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自訂行程看板：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804" y="3049885"/>
            <a:ext cx="7635438" cy="394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使用者可以將有興趣的景點、美食餐廳加入自訂行程列表中，並且提供直覺的拖拉介面，使用者可自由調整景點與美食店家的先後順序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特殊功能-4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Gemini AI 智慧行程規劃助手 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804" y="3049885"/>
            <a:ext cx="6951530" cy="315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</a:pPr>
          </a:p>
          <a:p>
            <a:pPr algn="just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內建對話式AI導覽功能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，使用者只需輸入天數、喜好或預算，系統即可生成專屬的嘉義旅遊行程</a:t>
            </a:r>
          </a:p>
          <a:p>
            <a:pPr algn="just">
              <a:lnSpc>
                <a:spcPts val="475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4932824" cy="1034501"/>
            <a:chOff x="0" y="0"/>
            <a:chExt cx="1349913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9913" cy="283101"/>
            </a:xfrm>
            <a:custGeom>
              <a:avLst/>
              <a:gdLst/>
              <a:ahLst/>
              <a:cxnLst/>
              <a:rect r="r" b="b" t="t" l="l"/>
              <a:pathLst>
                <a:path h="283101" w="1349913">
                  <a:moveTo>
                    <a:pt x="58070" y="0"/>
                  </a:moveTo>
                  <a:lnTo>
                    <a:pt x="1291843" y="0"/>
                  </a:lnTo>
                  <a:cubicBezTo>
                    <a:pt x="1307244" y="0"/>
                    <a:pt x="1322015" y="6118"/>
                    <a:pt x="1332905" y="17008"/>
                  </a:cubicBezTo>
                  <a:cubicBezTo>
                    <a:pt x="1343795" y="27899"/>
                    <a:pt x="1349913" y="42669"/>
                    <a:pt x="1349913" y="58070"/>
                  </a:cubicBezTo>
                  <a:lnTo>
                    <a:pt x="1349913" y="225030"/>
                  </a:lnTo>
                  <a:cubicBezTo>
                    <a:pt x="1349913" y="257102"/>
                    <a:pt x="1323914" y="283101"/>
                    <a:pt x="1291843" y="283101"/>
                  </a:cubicBezTo>
                  <a:lnTo>
                    <a:pt x="58070" y="283101"/>
                  </a:lnTo>
                  <a:cubicBezTo>
                    <a:pt x="25999" y="283101"/>
                    <a:pt x="0" y="257102"/>
                    <a:pt x="0" y="225030"/>
                  </a:cubicBezTo>
                  <a:lnTo>
                    <a:pt x="0" y="58070"/>
                  </a:lnTo>
                  <a:cubicBezTo>
                    <a:pt x="0" y="25999"/>
                    <a:pt x="25999" y="0"/>
                    <a:pt x="580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49913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特殊功能-5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188723" y="596540"/>
            <a:ext cx="4063078" cy="9002505"/>
          </a:xfrm>
          <a:custGeom>
            <a:avLst/>
            <a:gdLst/>
            <a:ahLst/>
            <a:cxnLst/>
            <a:rect r="r" b="b" t="t" l="l"/>
            <a:pathLst>
              <a:path h="9002505" w="4063078">
                <a:moveTo>
                  <a:pt x="0" y="0"/>
                </a:moveTo>
                <a:lnTo>
                  <a:pt x="4063078" y="0"/>
                </a:lnTo>
                <a:lnTo>
                  <a:pt x="4063078" y="9002505"/>
                </a:lnTo>
                <a:lnTo>
                  <a:pt x="0" y="9002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046110" y="4606580"/>
            <a:ext cx="3325479" cy="1200858"/>
            <a:chOff x="0" y="0"/>
            <a:chExt cx="1912490" cy="6906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2490" cy="690616"/>
            </a:xfrm>
            <a:custGeom>
              <a:avLst/>
              <a:gdLst/>
              <a:ahLst/>
              <a:cxnLst/>
              <a:rect r="r" b="b" t="t" l="l"/>
              <a:pathLst>
                <a:path h="690616" w="1912490">
                  <a:moveTo>
                    <a:pt x="114075" y="0"/>
                  </a:moveTo>
                  <a:lnTo>
                    <a:pt x="1798415" y="0"/>
                  </a:lnTo>
                  <a:cubicBezTo>
                    <a:pt x="1828669" y="0"/>
                    <a:pt x="1857685" y="12019"/>
                    <a:pt x="1879078" y="33412"/>
                  </a:cubicBezTo>
                  <a:cubicBezTo>
                    <a:pt x="1900471" y="54805"/>
                    <a:pt x="1912490" y="83820"/>
                    <a:pt x="1912490" y="114075"/>
                  </a:cubicBezTo>
                  <a:lnTo>
                    <a:pt x="1912490" y="576541"/>
                  </a:lnTo>
                  <a:cubicBezTo>
                    <a:pt x="1912490" y="606795"/>
                    <a:pt x="1900471" y="635811"/>
                    <a:pt x="1879078" y="657204"/>
                  </a:cubicBezTo>
                  <a:cubicBezTo>
                    <a:pt x="1857685" y="678597"/>
                    <a:pt x="1828669" y="690616"/>
                    <a:pt x="1798415" y="690616"/>
                  </a:cubicBezTo>
                  <a:lnTo>
                    <a:pt x="114075" y="690616"/>
                  </a:lnTo>
                  <a:cubicBezTo>
                    <a:pt x="51073" y="690616"/>
                    <a:pt x="0" y="639543"/>
                    <a:pt x="0" y="576541"/>
                  </a:cubicBezTo>
                  <a:lnTo>
                    <a:pt x="0" y="114075"/>
                  </a:lnTo>
                  <a:cubicBezTo>
                    <a:pt x="0" y="51073"/>
                    <a:pt x="51073" y="0"/>
                    <a:pt x="1140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12490" cy="728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21832" y="4769296"/>
            <a:ext cx="2374034" cy="875425"/>
          </a:xfrm>
          <a:custGeom>
            <a:avLst/>
            <a:gdLst/>
            <a:ahLst/>
            <a:cxnLst/>
            <a:rect r="r" b="b" t="t" l="l"/>
            <a:pathLst>
              <a:path h="875425" w="2374034">
                <a:moveTo>
                  <a:pt x="0" y="0"/>
                </a:moveTo>
                <a:lnTo>
                  <a:pt x="2374034" y="0"/>
                </a:lnTo>
                <a:lnTo>
                  <a:pt x="2374034" y="875425"/>
                </a:lnTo>
                <a:lnTo>
                  <a:pt x="0" y="87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使用 AI 工具 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23744" y="5931263"/>
            <a:ext cx="97021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Gemini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80979" y="4521646"/>
            <a:ext cx="12046927" cy="132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直接在 Android Studio 的側邊欄與 Gemini 互動，可以省去切換瀏覽器的時間，大幅提升了程式碼生成與修改的效率。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4749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使用AI工具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7668578" y="3071316"/>
            <a:ext cx="2885183" cy="944667"/>
            <a:chOff x="0" y="0"/>
            <a:chExt cx="759884" cy="248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9884" cy="248801"/>
            </a:xfrm>
            <a:custGeom>
              <a:avLst/>
              <a:gdLst/>
              <a:ahLst/>
              <a:cxnLst/>
              <a:rect r="r" b="b" t="t" l="l"/>
              <a:pathLst>
                <a:path h="248801" w="759884">
                  <a:moveTo>
                    <a:pt x="124401" y="0"/>
                  </a:moveTo>
                  <a:lnTo>
                    <a:pt x="635483" y="0"/>
                  </a:lnTo>
                  <a:cubicBezTo>
                    <a:pt x="668476" y="0"/>
                    <a:pt x="700118" y="13106"/>
                    <a:pt x="723447" y="36436"/>
                  </a:cubicBezTo>
                  <a:cubicBezTo>
                    <a:pt x="746777" y="59766"/>
                    <a:pt x="759884" y="91407"/>
                    <a:pt x="759884" y="124401"/>
                  </a:cubicBezTo>
                  <a:lnTo>
                    <a:pt x="759884" y="124401"/>
                  </a:lnTo>
                  <a:cubicBezTo>
                    <a:pt x="759884" y="157394"/>
                    <a:pt x="746777" y="189035"/>
                    <a:pt x="723447" y="212365"/>
                  </a:cubicBezTo>
                  <a:cubicBezTo>
                    <a:pt x="700118" y="235695"/>
                    <a:pt x="668476" y="248801"/>
                    <a:pt x="63548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75988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 strike="noStrike" u="none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啟動頁面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9111169" y="4015983"/>
            <a:ext cx="0" cy="484973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40427" y="6052431"/>
            <a:ext cx="14855184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734302" y="6023856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9111169" y="6052431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6576561" y="6028618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7549621" y="6861870"/>
            <a:ext cx="3123096" cy="944667"/>
            <a:chOff x="0" y="0"/>
            <a:chExt cx="822544" cy="2488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544" cy="248801"/>
            </a:xfrm>
            <a:custGeom>
              <a:avLst/>
              <a:gdLst/>
              <a:ahLst/>
              <a:cxnLst/>
              <a:rect r="r" b="b" t="t" l="l"/>
              <a:pathLst>
                <a:path h="248801" w="822544">
                  <a:moveTo>
                    <a:pt x="124401" y="0"/>
                  </a:moveTo>
                  <a:lnTo>
                    <a:pt x="698143" y="0"/>
                  </a:lnTo>
                  <a:cubicBezTo>
                    <a:pt x="731136" y="0"/>
                    <a:pt x="762778" y="13106"/>
                    <a:pt x="786108" y="36436"/>
                  </a:cubicBezTo>
                  <a:cubicBezTo>
                    <a:pt x="809437" y="59766"/>
                    <a:pt x="822544" y="91407"/>
                    <a:pt x="822544" y="124401"/>
                  </a:cubicBezTo>
                  <a:lnTo>
                    <a:pt x="822544" y="124401"/>
                  </a:lnTo>
                  <a:cubicBezTo>
                    <a:pt x="822544" y="157394"/>
                    <a:pt x="809437" y="189035"/>
                    <a:pt x="786108" y="212365"/>
                  </a:cubicBezTo>
                  <a:cubicBezTo>
                    <a:pt x="762778" y="235695"/>
                    <a:pt x="731136" y="248801"/>
                    <a:pt x="69814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82254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 strike="noStrike" u="none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地圖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97836" y="6852345"/>
            <a:ext cx="2885183" cy="944667"/>
            <a:chOff x="0" y="0"/>
            <a:chExt cx="759884" cy="2488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9884" cy="248801"/>
            </a:xfrm>
            <a:custGeom>
              <a:avLst/>
              <a:gdLst/>
              <a:ahLst/>
              <a:cxnLst/>
              <a:rect r="r" b="b" t="t" l="l"/>
              <a:pathLst>
                <a:path h="248801" w="759884">
                  <a:moveTo>
                    <a:pt x="124401" y="0"/>
                  </a:moveTo>
                  <a:lnTo>
                    <a:pt x="635483" y="0"/>
                  </a:lnTo>
                  <a:cubicBezTo>
                    <a:pt x="668476" y="0"/>
                    <a:pt x="700118" y="13106"/>
                    <a:pt x="723447" y="36436"/>
                  </a:cubicBezTo>
                  <a:cubicBezTo>
                    <a:pt x="746777" y="59766"/>
                    <a:pt x="759884" y="91407"/>
                    <a:pt x="759884" y="124401"/>
                  </a:cubicBezTo>
                  <a:lnTo>
                    <a:pt x="759884" y="124401"/>
                  </a:lnTo>
                  <a:cubicBezTo>
                    <a:pt x="759884" y="157394"/>
                    <a:pt x="746777" y="189035"/>
                    <a:pt x="723447" y="212365"/>
                  </a:cubicBezTo>
                  <a:cubicBezTo>
                    <a:pt x="700118" y="235695"/>
                    <a:pt x="668476" y="248801"/>
                    <a:pt x="63548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04775"/>
              <a:ext cx="75988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 strike="noStrike" u="none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首頁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069916" y="6847583"/>
            <a:ext cx="3013290" cy="944667"/>
            <a:chOff x="0" y="0"/>
            <a:chExt cx="793624" cy="2488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3624" cy="248801"/>
            </a:xfrm>
            <a:custGeom>
              <a:avLst/>
              <a:gdLst/>
              <a:ahLst/>
              <a:cxnLst/>
              <a:rect r="r" b="b" t="t" l="l"/>
              <a:pathLst>
                <a:path h="248801" w="793624">
                  <a:moveTo>
                    <a:pt x="124401" y="0"/>
                  </a:moveTo>
                  <a:lnTo>
                    <a:pt x="669223" y="0"/>
                  </a:lnTo>
                  <a:cubicBezTo>
                    <a:pt x="737928" y="0"/>
                    <a:pt x="793624" y="55696"/>
                    <a:pt x="793624" y="124401"/>
                  </a:cubicBezTo>
                  <a:lnTo>
                    <a:pt x="793624" y="124401"/>
                  </a:lnTo>
                  <a:cubicBezTo>
                    <a:pt x="793624" y="157394"/>
                    <a:pt x="780517" y="189035"/>
                    <a:pt x="757188" y="212365"/>
                  </a:cubicBezTo>
                  <a:cubicBezTo>
                    <a:pt x="733858" y="235695"/>
                    <a:pt x="702216" y="248801"/>
                    <a:pt x="66922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79362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個人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740427" y="7797012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9111169" y="7806537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6576561" y="7792249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>
            <a:off x="9111169" y="5445622"/>
            <a:ext cx="0" cy="597284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297836" y="8625501"/>
            <a:ext cx="2885183" cy="944667"/>
            <a:chOff x="0" y="0"/>
            <a:chExt cx="759884" cy="24880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9884" cy="248801"/>
            </a:xfrm>
            <a:custGeom>
              <a:avLst/>
              <a:gdLst/>
              <a:ahLst/>
              <a:cxnLst/>
              <a:rect r="r" b="b" t="t" l="l"/>
              <a:pathLst>
                <a:path h="248801" w="759884">
                  <a:moveTo>
                    <a:pt x="124401" y="0"/>
                  </a:moveTo>
                  <a:lnTo>
                    <a:pt x="635483" y="0"/>
                  </a:lnTo>
                  <a:cubicBezTo>
                    <a:pt x="668476" y="0"/>
                    <a:pt x="700118" y="13106"/>
                    <a:pt x="723447" y="36436"/>
                  </a:cubicBezTo>
                  <a:cubicBezTo>
                    <a:pt x="746777" y="59766"/>
                    <a:pt x="759884" y="91407"/>
                    <a:pt x="759884" y="124401"/>
                  </a:cubicBezTo>
                  <a:lnTo>
                    <a:pt x="759884" y="124401"/>
                  </a:lnTo>
                  <a:cubicBezTo>
                    <a:pt x="759884" y="157394"/>
                    <a:pt x="746777" y="189035"/>
                    <a:pt x="723447" y="212365"/>
                  </a:cubicBezTo>
                  <a:cubicBezTo>
                    <a:pt x="700118" y="235695"/>
                    <a:pt x="668476" y="248801"/>
                    <a:pt x="63548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75988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資訊總覽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49621" y="8635026"/>
            <a:ext cx="3123096" cy="944667"/>
            <a:chOff x="0" y="0"/>
            <a:chExt cx="822544" cy="2488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2544" cy="248801"/>
            </a:xfrm>
            <a:custGeom>
              <a:avLst/>
              <a:gdLst/>
              <a:ahLst/>
              <a:cxnLst/>
              <a:rect r="r" b="b" t="t" l="l"/>
              <a:pathLst>
                <a:path h="248801" w="822544">
                  <a:moveTo>
                    <a:pt x="124401" y="0"/>
                  </a:moveTo>
                  <a:lnTo>
                    <a:pt x="698143" y="0"/>
                  </a:lnTo>
                  <a:cubicBezTo>
                    <a:pt x="731136" y="0"/>
                    <a:pt x="762778" y="13106"/>
                    <a:pt x="786108" y="36436"/>
                  </a:cubicBezTo>
                  <a:cubicBezTo>
                    <a:pt x="809437" y="59766"/>
                    <a:pt x="822544" y="91407"/>
                    <a:pt x="822544" y="124401"/>
                  </a:cubicBezTo>
                  <a:lnTo>
                    <a:pt x="822544" y="124401"/>
                  </a:lnTo>
                  <a:cubicBezTo>
                    <a:pt x="822544" y="157394"/>
                    <a:pt x="809437" y="189035"/>
                    <a:pt x="786108" y="212365"/>
                  </a:cubicBezTo>
                  <a:cubicBezTo>
                    <a:pt x="762778" y="235695"/>
                    <a:pt x="731136" y="248801"/>
                    <a:pt x="69814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04775"/>
              <a:ext cx="82254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交通資訊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034063" y="8620738"/>
            <a:ext cx="3123096" cy="944667"/>
            <a:chOff x="0" y="0"/>
            <a:chExt cx="822544" cy="2488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2544" cy="248801"/>
            </a:xfrm>
            <a:custGeom>
              <a:avLst/>
              <a:gdLst/>
              <a:ahLst/>
              <a:cxnLst/>
              <a:rect r="r" b="b" t="t" l="l"/>
              <a:pathLst>
                <a:path h="248801" w="822544">
                  <a:moveTo>
                    <a:pt x="124401" y="0"/>
                  </a:moveTo>
                  <a:lnTo>
                    <a:pt x="698143" y="0"/>
                  </a:lnTo>
                  <a:cubicBezTo>
                    <a:pt x="731136" y="0"/>
                    <a:pt x="762778" y="13106"/>
                    <a:pt x="786108" y="36436"/>
                  </a:cubicBezTo>
                  <a:cubicBezTo>
                    <a:pt x="809437" y="59766"/>
                    <a:pt x="822544" y="91407"/>
                    <a:pt x="822544" y="124401"/>
                  </a:cubicBezTo>
                  <a:lnTo>
                    <a:pt x="822544" y="124401"/>
                  </a:lnTo>
                  <a:cubicBezTo>
                    <a:pt x="822544" y="157394"/>
                    <a:pt x="809437" y="189035"/>
                    <a:pt x="786108" y="212365"/>
                  </a:cubicBezTo>
                  <a:cubicBezTo>
                    <a:pt x="762778" y="235695"/>
                    <a:pt x="731136" y="248801"/>
                    <a:pt x="69814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04775"/>
              <a:ext cx="82254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使用者紀錄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668577" y="4500956"/>
            <a:ext cx="2885183" cy="944667"/>
            <a:chOff x="0" y="0"/>
            <a:chExt cx="759884" cy="24880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59884" cy="248801"/>
            </a:xfrm>
            <a:custGeom>
              <a:avLst/>
              <a:gdLst/>
              <a:ahLst/>
              <a:cxnLst/>
              <a:rect r="r" b="b" t="t" l="l"/>
              <a:pathLst>
                <a:path h="248801" w="759884">
                  <a:moveTo>
                    <a:pt x="124401" y="0"/>
                  </a:moveTo>
                  <a:lnTo>
                    <a:pt x="635483" y="0"/>
                  </a:lnTo>
                  <a:cubicBezTo>
                    <a:pt x="668476" y="0"/>
                    <a:pt x="700118" y="13106"/>
                    <a:pt x="723447" y="36436"/>
                  </a:cubicBezTo>
                  <a:cubicBezTo>
                    <a:pt x="746777" y="59766"/>
                    <a:pt x="759884" y="91407"/>
                    <a:pt x="759884" y="124401"/>
                  </a:cubicBezTo>
                  <a:lnTo>
                    <a:pt x="759884" y="124401"/>
                  </a:lnTo>
                  <a:cubicBezTo>
                    <a:pt x="759884" y="157394"/>
                    <a:pt x="746777" y="189035"/>
                    <a:pt x="723447" y="212365"/>
                  </a:cubicBezTo>
                  <a:cubicBezTo>
                    <a:pt x="700118" y="235695"/>
                    <a:pt x="668476" y="248801"/>
                    <a:pt x="63548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04775"/>
              <a:ext cx="75988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登入</a:t>
              </a:r>
              <a:r>
                <a:rPr lang="en-US" b="true" sz="3399" strike="noStrike" u="none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頁面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5368948" y="6071481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3807400" y="6880920"/>
            <a:ext cx="3123096" cy="944667"/>
            <a:chOff x="0" y="0"/>
            <a:chExt cx="822544" cy="24880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2544" cy="248801"/>
            </a:xfrm>
            <a:custGeom>
              <a:avLst/>
              <a:gdLst/>
              <a:ahLst/>
              <a:cxnLst/>
              <a:rect r="r" b="b" t="t" l="l"/>
              <a:pathLst>
                <a:path h="248801" w="822544">
                  <a:moveTo>
                    <a:pt x="124401" y="0"/>
                  </a:moveTo>
                  <a:lnTo>
                    <a:pt x="698143" y="0"/>
                  </a:lnTo>
                  <a:cubicBezTo>
                    <a:pt x="731136" y="0"/>
                    <a:pt x="762778" y="13106"/>
                    <a:pt x="786108" y="36436"/>
                  </a:cubicBezTo>
                  <a:cubicBezTo>
                    <a:pt x="809437" y="59766"/>
                    <a:pt x="822544" y="91407"/>
                    <a:pt x="822544" y="124401"/>
                  </a:cubicBezTo>
                  <a:lnTo>
                    <a:pt x="822544" y="124401"/>
                  </a:lnTo>
                  <a:cubicBezTo>
                    <a:pt x="822544" y="157394"/>
                    <a:pt x="809437" y="189035"/>
                    <a:pt x="786108" y="212365"/>
                  </a:cubicBezTo>
                  <a:cubicBezTo>
                    <a:pt x="762778" y="235695"/>
                    <a:pt x="731136" y="248801"/>
                    <a:pt x="69814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04775"/>
              <a:ext cx="82254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探索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807400" y="8654076"/>
            <a:ext cx="3123096" cy="944667"/>
            <a:chOff x="0" y="0"/>
            <a:chExt cx="822544" cy="24880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2544" cy="248801"/>
            </a:xfrm>
            <a:custGeom>
              <a:avLst/>
              <a:gdLst/>
              <a:ahLst/>
              <a:cxnLst/>
              <a:rect r="r" b="b" t="t" l="l"/>
              <a:pathLst>
                <a:path h="248801" w="822544">
                  <a:moveTo>
                    <a:pt x="124401" y="0"/>
                  </a:moveTo>
                  <a:lnTo>
                    <a:pt x="698143" y="0"/>
                  </a:lnTo>
                  <a:cubicBezTo>
                    <a:pt x="731136" y="0"/>
                    <a:pt x="762778" y="13106"/>
                    <a:pt x="786108" y="36436"/>
                  </a:cubicBezTo>
                  <a:cubicBezTo>
                    <a:pt x="809437" y="59766"/>
                    <a:pt x="822544" y="91407"/>
                    <a:pt x="822544" y="124401"/>
                  </a:cubicBezTo>
                  <a:lnTo>
                    <a:pt x="822544" y="124401"/>
                  </a:lnTo>
                  <a:cubicBezTo>
                    <a:pt x="822544" y="157394"/>
                    <a:pt x="809437" y="189035"/>
                    <a:pt x="786108" y="212365"/>
                  </a:cubicBezTo>
                  <a:cubicBezTo>
                    <a:pt x="762778" y="235695"/>
                    <a:pt x="731136" y="248801"/>
                    <a:pt x="69814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04775"/>
              <a:ext cx="82254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條件搜尋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>
            <a:off x="12834340" y="6033381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1327695" y="6852345"/>
            <a:ext cx="3013290" cy="944667"/>
            <a:chOff x="0" y="0"/>
            <a:chExt cx="793624" cy="24880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93624" cy="248801"/>
            </a:xfrm>
            <a:custGeom>
              <a:avLst/>
              <a:gdLst/>
              <a:ahLst/>
              <a:cxnLst/>
              <a:rect r="r" b="b" t="t" l="l"/>
              <a:pathLst>
                <a:path h="248801" w="793624">
                  <a:moveTo>
                    <a:pt x="124401" y="0"/>
                  </a:moveTo>
                  <a:lnTo>
                    <a:pt x="669223" y="0"/>
                  </a:lnTo>
                  <a:cubicBezTo>
                    <a:pt x="737928" y="0"/>
                    <a:pt x="793624" y="55696"/>
                    <a:pt x="793624" y="124401"/>
                  </a:cubicBezTo>
                  <a:lnTo>
                    <a:pt x="793624" y="124401"/>
                  </a:lnTo>
                  <a:cubicBezTo>
                    <a:pt x="793624" y="157394"/>
                    <a:pt x="780517" y="189035"/>
                    <a:pt x="757188" y="212365"/>
                  </a:cubicBezTo>
                  <a:cubicBezTo>
                    <a:pt x="733858" y="235695"/>
                    <a:pt x="702216" y="248801"/>
                    <a:pt x="66922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04775"/>
              <a:ext cx="79362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助手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>
            <a:off x="12834340" y="7797012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11291842" y="8625501"/>
            <a:ext cx="3123096" cy="944667"/>
            <a:chOff x="0" y="0"/>
            <a:chExt cx="822544" cy="24880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22544" cy="248801"/>
            </a:xfrm>
            <a:custGeom>
              <a:avLst/>
              <a:gdLst/>
              <a:ahLst/>
              <a:cxnLst/>
              <a:rect r="r" b="b" t="t" l="l"/>
              <a:pathLst>
                <a:path h="248801" w="822544">
                  <a:moveTo>
                    <a:pt x="124401" y="0"/>
                  </a:moveTo>
                  <a:lnTo>
                    <a:pt x="698143" y="0"/>
                  </a:lnTo>
                  <a:cubicBezTo>
                    <a:pt x="731136" y="0"/>
                    <a:pt x="762778" y="13106"/>
                    <a:pt x="786108" y="36436"/>
                  </a:cubicBezTo>
                  <a:cubicBezTo>
                    <a:pt x="809437" y="59766"/>
                    <a:pt x="822544" y="91407"/>
                    <a:pt x="822544" y="124401"/>
                  </a:cubicBezTo>
                  <a:lnTo>
                    <a:pt x="822544" y="124401"/>
                  </a:lnTo>
                  <a:cubicBezTo>
                    <a:pt x="822544" y="157394"/>
                    <a:pt x="809437" y="189035"/>
                    <a:pt x="786108" y="212365"/>
                  </a:cubicBezTo>
                  <a:cubicBezTo>
                    <a:pt x="762778" y="235695"/>
                    <a:pt x="731136" y="248801"/>
                    <a:pt x="698143" y="248801"/>
                  </a:cubicBezTo>
                  <a:lnTo>
                    <a:pt x="124401" y="248801"/>
                  </a:lnTo>
                  <a:cubicBezTo>
                    <a:pt x="91407" y="248801"/>
                    <a:pt x="59766" y="235695"/>
                    <a:pt x="36436" y="212365"/>
                  </a:cubicBezTo>
                  <a:cubicBezTo>
                    <a:pt x="13106" y="189035"/>
                    <a:pt x="0" y="157394"/>
                    <a:pt x="0" y="124401"/>
                  </a:cubicBezTo>
                  <a:lnTo>
                    <a:pt x="0" y="124401"/>
                  </a:lnTo>
                  <a:cubicBezTo>
                    <a:pt x="0" y="91407"/>
                    <a:pt x="13106" y="59766"/>
                    <a:pt x="36436" y="36436"/>
                  </a:cubicBezTo>
                  <a:cubicBezTo>
                    <a:pt x="59766" y="13106"/>
                    <a:pt x="91407" y="0"/>
                    <a:pt x="124401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04775"/>
              <a:ext cx="822544" cy="35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C7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行程智慧規劃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>
            <a:off x="5368948" y="7844637"/>
            <a:ext cx="0" cy="80943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2" id="62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系統架構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05657" y="1842877"/>
            <a:ext cx="16476685" cy="8177988"/>
          </a:xfrm>
          <a:custGeom>
            <a:avLst/>
            <a:gdLst/>
            <a:ahLst/>
            <a:cxnLst/>
            <a:rect r="r" b="b" t="t" l="l"/>
            <a:pathLst>
              <a:path h="8177988" w="16476685">
                <a:moveTo>
                  <a:pt x="0" y="0"/>
                </a:moveTo>
                <a:lnTo>
                  <a:pt x="16476686" y="0"/>
                </a:lnTo>
                <a:lnTo>
                  <a:pt x="16476686" y="8177988"/>
                </a:lnTo>
                <a:lnTo>
                  <a:pt x="0" y="8177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系統架構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71039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21668" y="596540"/>
            <a:ext cx="6964724" cy="1034501"/>
            <a:chOff x="0" y="0"/>
            <a:chExt cx="1905962" cy="2831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962" cy="283101"/>
            </a:xfrm>
            <a:custGeom>
              <a:avLst/>
              <a:gdLst/>
              <a:ahLst/>
              <a:cxnLst/>
              <a:rect r="r" b="b" t="t" l="l"/>
              <a:pathLst>
                <a:path h="283101" w="1905962">
                  <a:moveTo>
                    <a:pt x="41129" y="0"/>
                  </a:moveTo>
                  <a:lnTo>
                    <a:pt x="1864833" y="0"/>
                  </a:lnTo>
                  <a:cubicBezTo>
                    <a:pt x="1875741" y="0"/>
                    <a:pt x="1886202" y="4333"/>
                    <a:pt x="1893915" y="12046"/>
                  </a:cubicBezTo>
                  <a:cubicBezTo>
                    <a:pt x="1901629" y="19760"/>
                    <a:pt x="1905962" y="30221"/>
                    <a:pt x="1905962" y="41129"/>
                  </a:cubicBezTo>
                  <a:lnTo>
                    <a:pt x="1905962" y="241972"/>
                  </a:lnTo>
                  <a:cubicBezTo>
                    <a:pt x="1905962" y="252880"/>
                    <a:pt x="1901629" y="263341"/>
                    <a:pt x="1893915" y="271054"/>
                  </a:cubicBezTo>
                  <a:cubicBezTo>
                    <a:pt x="1886202" y="278768"/>
                    <a:pt x="1875741" y="283101"/>
                    <a:pt x="1864833" y="283101"/>
                  </a:cubicBezTo>
                  <a:lnTo>
                    <a:pt x="41129" y="283101"/>
                  </a:lnTo>
                  <a:cubicBezTo>
                    <a:pt x="30221" y="283101"/>
                    <a:pt x="19760" y="278768"/>
                    <a:pt x="12046" y="271054"/>
                  </a:cubicBezTo>
                  <a:cubicBezTo>
                    <a:pt x="4333" y="263341"/>
                    <a:pt x="0" y="252880"/>
                    <a:pt x="0" y="241972"/>
                  </a:cubicBezTo>
                  <a:lnTo>
                    <a:pt x="0" y="41129"/>
                  </a:lnTo>
                  <a:cubicBezTo>
                    <a:pt x="0" y="30221"/>
                    <a:pt x="4333" y="19760"/>
                    <a:pt x="12046" y="12046"/>
                  </a:cubicBezTo>
                  <a:cubicBezTo>
                    <a:pt x="19760" y="4333"/>
                    <a:pt x="30221" y="0"/>
                    <a:pt x="4112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905962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56187" y="4796760"/>
            <a:ext cx="1496411" cy="1496411"/>
          </a:xfrm>
          <a:custGeom>
            <a:avLst/>
            <a:gdLst/>
            <a:ahLst/>
            <a:cxnLst/>
            <a:rect r="r" b="b" t="t" l="l"/>
            <a:pathLst>
              <a:path h="1496411" w="1496411">
                <a:moveTo>
                  <a:pt x="0" y="0"/>
                </a:moveTo>
                <a:lnTo>
                  <a:pt x="1496412" y="0"/>
                </a:lnTo>
                <a:lnTo>
                  <a:pt x="1496412" y="1496412"/>
                </a:lnTo>
                <a:lnTo>
                  <a:pt x="0" y="1496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2925870" y="5579911"/>
            <a:ext cx="65930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3994754" y="2515232"/>
            <a:ext cx="2766347" cy="6129358"/>
          </a:xfrm>
          <a:custGeom>
            <a:avLst/>
            <a:gdLst/>
            <a:ahLst/>
            <a:cxnLst/>
            <a:rect r="r" b="b" t="t" l="l"/>
            <a:pathLst>
              <a:path h="6129358" w="2766347">
                <a:moveTo>
                  <a:pt x="0" y="0"/>
                </a:moveTo>
                <a:lnTo>
                  <a:pt x="2766347" y="0"/>
                </a:lnTo>
                <a:lnTo>
                  <a:pt x="2766347" y="6129358"/>
                </a:lnTo>
                <a:lnTo>
                  <a:pt x="0" y="612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7058307" y="8155766"/>
            <a:ext cx="587753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7058307" y="3481642"/>
            <a:ext cx="121448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8558405" y="368613"/>
            <a:ext cx="2759641" cy="6109275"/>
          </a:xfrm>
          <a:custGeom>
            <a:avLst/>
            <a:gdLst/>
            <a:ahLst/>
            <a:cxnLst/>
            <a:rect r="r" b="b" t="t" l="l"/>
            <a:pathLst>
              <a:path h="6109275" w="2759641">
                <a:moveTo>
                  <a:pt x="0" y="0"/>
                </a:moveTo>
                <a:lnTo>
                  <a:pt x="2759641" y="0"/>
                </a:lnTo>
                <a:lnTo>
                  <a:pt x="2759641" y="6109275"/>
                </a:lnTo>
                <a:lnTo>
                  <a:pt x="0" y="6109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345653" y="2531118"/>
            <a:ext cx="2754836" cy="6113472"/>
          </a:xfrm>
          <a:custGeom>
            <a:avLst/>
            <a:gdLst/>
            <a:ahLst/>
            <a:cxnLst/>
            <a:rect r="r" b="b" t="t" l="l"/>
            <a:pathLst>
              <a:path h="6113472" w="2754836">
                <a:moveTo>
                  <a:pt x="0" y="0"/>
                </a:moveTo>
                <a:lnTo>
                  <a:pt x="2754836" y="0"/>
                </a:lnTo>
                <a:lnTo>
                  <a:pt x="2754836" y="6113472"/>
                </a:lnTo>
                <a:lnTo>
                  <a:pt x="0" y="6113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使用者操作畫面介紹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411213"/>
            <a:ext cx="1490680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使用者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12496" y="8833486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1-1 歡迎頁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72794" y="6590282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1-2 登入/註冊頁面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57640" y="8833486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2-1 首頁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08614" y="2828228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建立新帳號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72794" y="7501640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登入/註冊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71039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4046354" y="2113757"/>
            <a:ext cx="3156097" cy="7013549"/>
          </a:xfrm>
          <a:custGeom>
            <a:avLst/>
            <a:gdLst/>
            <a:ahLst/>
            <a:cxnLst/>
            <a:rect r="r" b="b" t="t" l="l"/>
            <a:pathLst>
              <a:path h="7013549" w="3156097">
                <a:moveTo>
                  <a:pt x="0" y="0"/>
                </a:moveTo>
                <a:lnTo>
                  <a:pt x="3156097" y="0"/>
                </a:lnTo>
                <a:lnTo>
                  <a:pt x="3156097" y="7013549"/>
                </a:lnTo>
                <a:lnTo>
                  <a:pt x="0" y="7013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50728" y="2113757"/>
            <a:ext cx="3165407" cy="7013549"/>
          </a:xfrm>
          <a:custGeom>
            <a:avLst/>
            <a:gdLst/>
            <a:ahLst/>
            <a:cxnLst/>
            <a:rect r="r" b="b" t="t" l="l"/>
            <a:pathLst>
              <a:path h="7013549" w="3165407">
                <a:moveTo>
                  <a:pt x="0" y="0"/>
                </a:moveTo>
                <a:lnTo>
                  <a:pt x="3165407" y="0"/>
                </a:lnTo>
                <a:lnTo>
                  <a:pt x="3165407" y="7013549"/>
                </a:lnTo>
                <a:lnTo>
                  <a:pt x="0" y="70135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78085" y="2113757"/>
            <a:ext cx="3165407" cy="7013549"/>
          </a:xfrm>
          <a:custGeom>
            <a:avLst/>
            <a:gdLst/>
            <a:ahLst/>
            <a:cxnLst/>
            <a:rect r="r" b="b" t="t" l="l"/>
            <a:pathLst>
              <a:path h="7013549" w="3165407">
                <a:moveTo>
                  <a:pt x="0" y="0"/>
                </a:moveTo>
                <a:lnTo>
                  <a:pt x="3165407" y="0"/>
                </a:lnTo>
                <a:lnTo>
                  <a:pt x="3165407" y="7013549"/>
                </a:lnTo>
                <a:lnTo>
                  <a:pt x="0" y="70135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1780" y="9343393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2-1 首頁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44160" y="9343393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2-2 探索頁面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56163" y="9343393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2-3 地圖頁面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68000" y="9343393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2-4 AI行程助手頁面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95358" y="9343393"/>
            <a:ext cx="3330863" cy="4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2-5 個人中心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521668" y="596540"/>
            <a:ext cx="6964724" cy="1034501"/>
            <a:chOff x="0" y="0"/>
            <a:chExt cx="1905962" cy="2831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05962" cy="283101"/>
            </a:xfrm>
            <a:custGeom>
              <a:avLst/>
              <a:gdLst/>
              <a:ahLst/>
              <a:cxnLst/>
              <a:rect r="r" b="b" t="t" l="l"/>
              <a:pathLst>
                <a:path h="283101" w="1905962">
                  <a:moveTo>
                    <a:pt x="41129" y="0"/>
                  </a:moveTo>
                  <a:lnTo>
                    <a:pt x="1864833" y="0"/>
                  </a:lnTo>
                  <a:cubicBezTo>
                    <a:pt x="1875741" y="0"/>
                    <a:pt x="1886202" y="4333"/>
                    <a:pt x="1893915" y="12046"/>
                  </a:cubicBezTo>
                  <a:cubicBezTo>
                    <a:pt x="1901629" y="19760"/>
                    <a:pt x="1905962" y="30221"/>
                    <a:pt x="1905962" y="41129"/>
                  </a:cubicBezTo>
                  <a:lnTo>
                    <a:pt x="1905962" y="241972"/>
                  </a:lnTo>
                  <a:cubicBezTo>
                    <a:pt x="1905962" y="252880"/>
                    <a:pt x="1901629" y="263341"/>
                    <a:pt x="1893915" y="271054"/>
                  </a:cubicBezTo>
                  <a:cubicBezTo>
                    <a:pt x="1886202" y="278768"/>
                    <a:pt x="1875741" y="283101"/>
                    <a:pt x="1864833" y="283101"/>
                  </a:cubicBezTo>
                  <a:lnTo>
                    <a:pt x="41129" y="283101"/>
                  </a:lnTo>
                  <a:cubicBezTo>
                    <a:pt x="30221" y="283101"/>
                    <a:pt x="19760" y="278768"/>
                    <a:pt x="12046" y="271054"/>
                  </a:cubicBezTo>
                  <a:cubicBezTo>
                    <a:pt x="4333" y="263341"/>
                    <a:pt x="0" y="252880"/>
                    <a:pt x="0" y="241972"/>
                  </a:cubicBezTo>
                  <a:lnTo>
                    <a:pt x="0" y="41129"/>
                  </a:lnTo>
                  <a:cubicBezTo>
                    <a:pt x="0" y="30221"/>
                    <a:pt x="4333" y="19760"/>
                    <a:pt x="12046" y="12046"/>
                  </a:cubicBezTo>
                  <a:cubicBezTo>
                    <a:pt x="19760" y="4333"/>
                    <a:pt x="30221" y="0"/>
                    <a:pt x="4112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905962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使用者操作畫面介紹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449163" y="2113757"/>
            <a:ext cx="3156097" cy="7013549"/>
          </a:xfrm>
          <a:custGeom>
            <a:avLst/>
            <a:gdLst/>
            <a:ahLst/>
            <a:cxnLst/>
            <a:rect r="r" b="b" t="t" l="l"/>
            <a:pathLst>
              <a:path h="7013549" w="3156097">
                <a:moveTo>
                  <a:pt x="0" y="0"/>
                </a:moveTo>
                <a:lnTo>
                  <a:pt x="3156097" y="0"/>
                </a:lnTo>
                <a:lnTo>
                  <a:pt x="3156097" y="7013549"/>
                </a:lnTo>
                <a:lnTo>
                  <a:pt x="0" y="7013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643545" y="2113757"/>
            <a:ext cx="3156097" cy="7013549"/>
          </a:xfrm>
          <a:custGeom>
            <a:avLst/>
            <a:gdLst/>
            <a:ahLst/>
            <a:cxnLst/>
            <a:rect r="r" b="b" t="t" l="l"/>
            <a:pathLst>
              <a:path h="7013549" w="3156097">
                <a:moveTo>
                  <a:pt x="0" y="0"/>
                </a:moveTo>
                <a:lnTo>
                  <a:pt x="3156098" y="0"/>
                </a:lnTo>
                <a:lnTo>
                  <a:pt x="3156098" y="7013549"/>
                </a:lnTo>
                <a:lnTo>
                  <a:pt x="0" y="70135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96686" y="3082896"/>
            <a:ext cx="15294628" cy="6653163"/>
          </a:xfrm>
          <a:custGeom>
            <a:avLst/>
            <a:gdLst/>
            <a:ahLst/>
            <a:cxnLst/>
            <a:rect r="r" b="b" t="t" l="l"/>
            <a:pathLst>
              <a:path h="6653163" w="15294628">
                <a:moveTo>
                  <a:pt x="0" y="0"/>
                </a:moveTo>
                <a:lnTo>
                  <a:pt x="15294628" y="0"/>
                </a:lnTo>
                <a:lnTo>
                  <a:pt x="15294628" y="6653163"/>
                </a:lnTo>
                <a:lnTo>
                  <a:pt x="0" y="6653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359676" y="7817933"/>
            <a:ext cx="2383195" cy="464454"/>
            <a:chOff x="0" y="0"/>
            <a:chExt cx="627673" cy="1223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7673" cy="122325"/>
            </a:xfrm>
            <a:custGeom>
              <a:avLst/>
              <a:gdLst/>
              <a:ahLst/>
              <a:cxnLst/>
              <a:rect r="r" b="b" t="t" l="l"/>
              <a:pathLst>
                <a:path h="122325" w="627673">
                  <a:moveTo>
                    <a:pt x="0" y="0"/>
                  </a:moveTo>
                  <a:lnTo>
                    <a:pt x="627673" y="0"/>
                  </a:lnTo>
                  <a:lnTo>
                    <a:pt x="627673" y="122325"/>
                  </a:lnTo>
                  <a:lnTo>
                    <a:pt x="0" y="122325"/>
                  </a:lnTo>
                  <a:close/>
                </a:path>
              </a:pathLst>
            </a:custGeom>
            <a:solidFill>
              <a:srgbClr val="F4A0A0">
                <a:alpha val="57647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27673" cy="1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使用者帳號管理 : Firebase 的 Authentication 機制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445835" y="2924214"/>
            <a:ext cx="13396330" cy="6982837"/>
          </a:xfrm>
          <a:custGeom>
            <a:avLst/>
            <a:gdLst/>
            <a:ahLst/>
            <a:cxnLst/>
            <a:rect r="r" b="b" t="t" l="l"/>
            <a:pathLst>
              <a:path h="6982837" w="13396330">
                <a:moveTo>
                  <a:pt x="0" y="0"/>
                </a:moveTo>
                <a:lnTo>
                  <a:pt x="13396330" y="0"/>
                </a:lnTo>
                <a:lnTo>
                  <a:pt x="13396330" y="6982837"/>
                </a:lnTo>
                <a:lnTo>
                  <a:pt x="0" y="6982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使用者帳號管理 : Firebase 的 Authentication 機制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27463" y="7342997"/>
            <a:ext cx="2839133" cy="464454"/>
            <a:chOff x="0" y="0"/>
            <a:chExt cx="747755" cy="1223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7755" cy="122325"/>
            </a:xfrm>
            <a:custGeom>
              <a:avLst/>
              <a:gdLst/>
              <a:ahLst/>
              <a:cxnLst/>
              <a:rect r="r" b="b" t="t" l="l"/>
              <a:pathLst>
                <a:path h="122325" w="747755">
                  <a:moveTo>
                    <a:pt x="0" y="0"/>
                  </a:moveTo>
                  <a:lnTo>
                    <a:pt x="747755" y="0"/>
                  </a:lnTo>
                  <a:lnTo>
                    <a:pt x="747755" y="122325"/>
                  </a:lnTo>
                  <a:lnTo>
                    <a:pt x="0" y="122325"/>
                  </a:lnTo>
                  <a:close/>
                </a:path>
              </a:pathLst>
            </a:custGeom>
            <a:solidFill>
              <a:srgbClr val="F4A0A0">
                <a:alpha val="57647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47755" cy="1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3327539" y="7070996"/>
            <a:ext cx="524558" cy="488316"/>
          </a:xfrm>
          <a:custGeom>
            <a:avLst/>
            <a:gdLst/>
            <a:ahLst/>
            <a:cxnLst/>
            <a:rect r="r" b="b" t="t" l="l"/>
            <a:pathLst>
              <a:path h="488316" w="524558">
                <a:moveTo>
                  <a:pt x="0" y="0"/>
                </a:moveTo>
                <a:lnTo>
                  <a:pt x="524558" y="0"/>
                </a:lnTo>
                <a:lnTo>
                  <a:pt x="524558" y="488315"/>
                </a:lnTo>
                <a:lnTo>
                  <a:pt x="0" y="488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09772" y="3020094"/>
            <a:ext cx="13868457" cy="7055577"/>
          </a:xfrm>
          <a:custGeom>
            <a:avLst/>
            <a:gdLst/>
            <a:ahLst/>
            <a:cxnLst/>
            <a:rect r="r" b="b" t="t" l="l"/>
            <a:pathLst>
              <a:path h="7055577" w="13868457">
                <a:moveTo>
                  <a:pt x="0" y="0"/>
                </a:moveTo>
                <a:lnTo>
                  <a:pt x="13868456" y="0"/>
                </a:lnTo>
                <a:lnTo>
                  <a:pt x="13868456" y="7055577"/>
                </a:lnTo>
                <a:lnTo>
                  <a:pt x="0" y="7055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40095" y="7851516"/>
            <a:ext cx="3076266" cy="2224155"/>
          </a:xfrm>
          <a:custGeom>
            <a:avLst/>
            <a:gdLst/>
            <a:ahLst/>
            <a:cxnLst/>
            <a:rect r="r" b="b" t="t" l="l"/>
            <a:pathLst>
              <a:path h="2224155" w="3076266">
                <a:moveTo>
                  <a:pt x="0" y="0"/>
                </a:moveTo>
                <a:lnTo>
                  <a:pt x="3076266" y="0"/>
                </a:lnTo>
                <a:lnTo>
                  <a:pt x="3076266" y="2224155"/>
                </a:lnTo>
                <a:lnTo>
                  <a:pt x="0" y="22241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影像儲存： Google Drive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3327539" y="7070996"/>
            <a:ext cx="524558" cy="488316"/>
          </a:xfrm>
          <a:custGeom>
            <a:avLst/>
            <a:gdLst/>
            <a:ahLst/>
            <a:cxnLst/>
            <a:rect r="r" b="b" t="t" l="l"/>
            <a:pathLst>
              <a:path h="488316" w="524558">
                <a:moveTo>
                  <a:pt x="0" y="0"/>
                </a:moveTo>
                <a:lnTo>
                  <a:pt x="524558" y="0"/>
                </a:lnTo>
                <a:lnTo>
                  <a:pt x="524558" y="488315"/>
                </a:lnTo>
                <a:lnTo>
                  <a:pt x="0" y="488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64681" y="2824985"/>
            <a:ext cx="15558639" cy="7312560"/>
          </a:xfrm>
          <a:custGeom>
            <a:avLst/>
            <a:gdLst/>
            <a:ahLst/>
            <a:cxnLst/>
            <a:rect r="r" b="b" t="t" l="l"/>
            <a:pathLst>
              <a:path h="7312560" w="15558639">
                <a:moveTo>
                  <a:pt x="0" y="0"/>
                </a:moveTo>
                <a:lnTo>
                  <a:pt x="15558638" y="0"/>
                </a:lnTo>
                <a:lnTo>
                  <a:pt x="15558638" y="7312560"/>
                </a:lnTo>
                <a:lnTo>
                  <a:pt x="0" y="73125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影像儲存： Google Drive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3327539" y="7070996"/>
            <a:ext cx="524558" cy="488316"/>
          </a:xfrm>
          <a:custGeom>
            <a:avLst/>
            <a:gdLst/>
            <a:ahLst/>
            <a:cxnLst/>
            <a:rect r="r" b="b" t="t" l="l"/>
            <a:pathLst>
              <a:path h="488316" w="524558">
                <a:moveTo>
                  <a:pt x="0" y="0"/>
                </a:moveTo>
                <a:lnTo>
                  <a:pt x="524558" y="0"/>
                </a:lnTo>
                <a:lnTo>
                  <a:pt x="524558" y="488315"/>
                </a:lnTo>
                <a:lnTo>
                  <a:pt x="0" y="488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92779" y="3026836"/>
            <a:ext cx="15302443" cy="2116664"/>
          </a:xfrm>
          <a:custGeom>
            <a:avLst/>
            <a:gdLst/>
            <a:ahLst/>
            <a:cxnLst/>
            <a:rect r="r" b="b" t="t" l="l"/>
            <a:pathLst>
              <a:path h="2116664" w="15302443">
                <a:moveTo>
                  <a:pt x="0" y="0"/>
                </a:moveTo>
                <a:lnTo>
                  <a:pt x="15302442" y="0"/>
                </a:lnTo>
                <a:lnTo>
                  <a:pt x="15302442" y="2116664"/>
                </a:lnTo>
                <a:lnTo>
                  <a:pt x="0" y="2116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266" t="-269909" r="-2951" b="-17422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23051" y="5448300"/>
            <a:ext cx="8641899" cy="4615379"/>
          </a:xfrm>
          <a:custGeom>
            <a:avLst/>
            <a:gdLst/>
            <a:ahLst/>
            <a:cxnLst/>
            <a:rect r="r" b="b" t="t" l="l"/>
            <a:pathLst>
              <a:path h="4615379" w="8641899">
                <a:moveTo>
                  <a:pt x="0" y="0"/>
                </a:moveTo>
                <a:lnTo>
                  <a:pt x="8641898" y="0"/>
                </a:lnTo>
                <a:lnTo>
                  <a:pt x="8641898" y="4615379"/>
                </a:lnTo>
                <a:lnTo>
                  <a:pt x="0" y="46153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影像儲存： Google Drive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72330" y="3706411"/>
            <a:ext cx="8426758" cy="598140"/>
            <a:chOff x="0" y="0"/>
            <a:chExt cx="2219393" cy="1575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9393" cy="157535"/>
            </a:xfrm>
            <a:custGeom>
              <a:avLst/>
              <a:gdLst/>
              <a:ahLst/>
              <a:cxnLst/>
              <a:rect r="r" b="b" t="t" l="l"/>
              <a:pathLst>
                <a:path h="157535" w="2219393">
                  <a:moveTo>
                    <a:pt x="0" y="0"/>
                  </a:moveTo>
                  <a:lnTo>
                    <a:pt x="2219393" y="0"/>
                  </a:lnTo>
                  <a:lnTo>
                    <a:pt x="2219393" y="157535"/>
                  </a:lnTo>
                  <a:lnTo>
                    <a:pt x="0" y="157535"/>
                  </a:lnTo>
                  <a:close/>
                </a:path>
              </a:pathLst>
            </a:custGeom>
            <a:solidFill>
              <a:srgbClr val="F4A0A0">
                <a:alpha val="5882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19393" cy="195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72330" y="4379399"/>
            <a:ext cx="8426758" cy="598140"/>
            <a:chOff x="0" y="0"/>
            <a:chExt cx="2219393" cy="1575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9393" cy="157535"/>
            </a:xfrm>
            <a:custGeom>
              <a:avLst/>
              <a:gdLst/>
              <a:ahLst/>
              <a:cxnLst/>
              <a:rect r="r" b="b" t="t" l="l"/>
              <a:pathLst>
                <a:path h="157535" w="2219393">
                  <a:moveTo>
                    <a:pt x="0" y="0"/>
                  </a:moveTo>
                  <a:lnTo>
                    <a:pt x="2219393" y="0"/>
                  </a:lnTo>
                  <a:lnTo>
                    <a:pt x="2219393" y="157535"/>
                  </a:lnTo>
                  <a:lnTo>
                    <a:pt x="0" y="157535"/>
                  </a:lnTo>
                  <a:close/>
                </a:path>
              </a:pathLst>
            </a:custGeom>
            <a:solidFill>
              <a:srgbClr val="F4A0A0">
                <a:alpha val="5882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19393" cy="195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3327539" y="7070996"/>
            <a:ext cx="524558" cy="488316"/>
          </a:xfrm>
          <a:custGeom>
            <a:avLst/>
            <a:gdLst/>
            <a:ahLst/>
            <a:cxnLst/>
            <a:rect r="r" b="b" t="t" l="l"/>
            <a:pathLst>
              <a:path h="488316" w="524558">
                <a:moveTo>
                  <a:pt x="0" y="0"/>
                </a:moveTo>
                <a:lnTo>
                  <a:pt x="524558" y="0"/>
                </a:lnTo>
                <a:lnTo>
                  <a:pt x="524558" y="488315"/>
                </a:lnTo>
                <a:lnTo>
                  <a:pt x="0" y="488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9713" y="3070949"/>
            <a:ext cx="17448573" cy="5670786"/>
          </a:xfrm>
          <a:custGeom>
            <a:avLst/>
            <a:gdLst/>
            <a:ahLst/>
            <a:cxnLst/>
            <a:rect r="r" b="b" t="t" l="l"/>
            <a:pathLst>
              <a:path h="5670786" w="17448573">
                <a:moveTo>
                  <a:pt x="0" y="0"/>
                </a:moveTo>
                <a:lnTo>
                  <a:pt x="17448574" y="0"/>
                </a:lnTo>
                <a:lnTo>
                  <a:pt x="17448574" y="5670786"/>
                </a:lnTo>
                <a:lnTo>
                  <a:pt x="0" y="5670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資料匯入、匯出備份 :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3327539" y="7070996"/>
            <a:ext cx="524558" cy="488316"/>
          </a:xfrm>
          <a:custGeom>
            <a:avLst/>
            <a:gdLst/>
            <a:ahLst/>
            <a:cxnLst/>
            <a:rect r="r" b="b" t="t" l="l"/>
            <a:pathLst>
              <a:path h="488316" w="524558">
                <a:moveTo>
                  <a:pt x="0" y="0"/>
                </a:moveTo>
                <a:lnTo>
                  <a:pt x="524558" y="0"/>
                </a:lnTo>
                <a:lnTo>
                  <a:pt x="524558" y="488315"/>
                </a:lnTo>
                <a:lnTo>
                  <a:pt x="0" y="488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12232" y="2965978"/>
            <a:ext cx="13463536" cy="5561530"/>
          </a:xfrm>
          <a:custGeom>
            <a:avLst/>
            <a:gdLst/>
            <a:ahLst/>
            <a:cxnLst/>
            <a:rect r="r" b="b" t="t" l="l"/>
            <a:pathLst>
              <a:path h="5561530" w="13463536">
                <a:moveTo>
                  <a:pt x="0" y="0"/>
                </a:moveTo>
                <a:lnTo>
                  <a:pt x="13463536" y="0"/>
                </a:lnTo>
                <a:lnTo>
                  <a:pt x="13463536" y="5561529"/>
                </a:lnTo>
                <a:lnTo>
                  <a:pt x="0" y="55615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資料匯入、匯出備份 :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3327539" y="7070996"/>
            <a:ext cx="524558" cy="488316"/>
          </a:xfrm>
          <a:custGeom>
            <a:avLst/>
            <a:gdLst/>
            <a:ahLst/>
            <a:cxnLst/>
            <a:rect r="r" b="b" t="t" l="l"/>
            <a:pathLst>
              <a:path h="488316" w="524558">
                <a:moveTo>
                  <a:pt x="0" y="0"/>
                </a:moveTo>
                <a:lnTo>
                  <a:pt x="524558" y="0"/>
                </a:lnTo>
                <a:lnTo>
                  <a:pt x="524558" y="488315"/>
                </a:lnTo>
                <a:lnTo>
                  <a:pt x="0" y="488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48789" y="3195442"/>
            <a:ext cx="13990422" cy="4721767"/>
          </a:xfrm>
          <a:custGeom>
            <a:avLst/>
            <a:gdLst/>
            <a:ahLst/>
            <a:cxnLst/>
            <a:rect r="r" b="b" t="t" l="l"/>
            <a:pathLst>
              <a:path h="4721767" w="13990422">
                <a:moveTo>
                  <a:pt x="0" y="0"/>
                </a:moveTo>
                <a:lnTo>
                  <a:pt x="13990422" y="0"/>
                </a:lnTo>
                <a:lnTo>
                  <a:pt x="13990422" y="4721768"/>
                </a:lnTo>
                <a:lnTo>
                  <a:pt x="0" y="47217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資料匯入、匯出備份 :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3327539" y="7070996"/>
            <a:ext cx="524558" cy="488316"/>
          </a:xfrm>
          <a:custGeom>
            <a:avLst/>
            <a:gdLst/>
            <a:ahLst/>
            <a:cxnLst/>
            <a:rect r="r" b="b" t="t" l="l"/>
            <a:pathLst>
              <a:path h="488316" w="524558">
                <a:moveTo>
                  <a:pt x="0" y="0"/>
                </a:moveTo>
                <a:lnTo>
                  <a:pt x="524558" y="0"/>
                </a:lnTo>
                <a:lnTo>
                  <a:pt x="524558" y="488315"/>
                </a:lnTo>
                <a:lnTo>
                  <a:pt x="0" y="488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4789" y="3147924"/>
            <a:ext cx="16338422" cy="6290292"/>
          </a:xfrm>
          <a:custGeom>
            <a:avLst/>
            <a:gdLst/>
            <a:ahLst/>
            <a:cxnLst/>
            <a:rect r="r" b="b" t="t" l="l"/>
            <a:pathLst>
              <a:path h="6290292" w="16338422">
                <a:moveTo>
                  <a:pt x="0" y="0"/>
                </a:moveTo>
                <a:lnTo>
                  <a:pt x="16338422" y="0"/>
                </a:lnTo>
                <a:lnTo>
                  <a:pt x="16338422" y="6290293"/>
                </a:lnTo>
                <a:lnTo>
                  <a:pt x="0" y="62902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資料匯入、匯出備份 :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3327539" y="7070996"/>
            <a:ext cx="524558" cy="488316"/>
          </a:xfrm>
          <a:custGeom>
            <a:avLst/>
            <a:gdLst/>
            <a:ahLst/>
            <a:cxnLst/>
            <a:rect r="r" b="b" t="t" l="l"/>
            <a:pathLst>
              <a:path h="488316" w="524558">
                <a:moveTo>
                  <a:pt x="0" y="0"/>
                </a:moveTo>
                <a:lnTo>
                  <a:pt x="524558" y="0"/>
                </a:lnTo>
                <a:lnTo>
                  <a:pt x="524558" y="488315"/>
                </a:lnTo>
                <a:lnTo>
                  <a:pt x="0" y="488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14350" y="3154634"/>
            <a:ext cx="17259300" cy="5717143"/>
          </a:xfrm>
          <a:custGeom>
            <a:avLst/>
            <a:gdLst/>
            <a:ahLst/>
            <a:cxnLst/>
            <a:rect r="r" b="b" t="t" l="l"/>
            <a:pathLst>
              <a:path h="5717143" w="17259300">
                <a:moveTo>
                  <a:pt x="0" y="0"/>
                </a:moveTo>
                <a:lnTo>
                  <a:pt x="17259300" y="0"/>
                </a:lnTo>
                <a:lnTo>
                  <a:pt x="17259300" y="5717143"/>
                </a:lnTo>
                <a:lnTo>
                  <a:pt x="0" y="57171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24276" y="5143500"/>
            <a:ext cx="1397206" cy="266548"/>
            <a:chOff x="0" y="0"/>
            <a:chExt cx="367989" cy="702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7989" cy="70202"/>
            </a:xfrm>
            <a:custGeom>
              <a:avLst/>
              <a:gdLst/>
              <a:ahLst/>
              <a:cxnLst/>
              <a:rect r="r" b="b" t="t" l="l"/>
              <a:pathLst>
                <a:path h="70202" w="367989">
                  <a:moveTo>
                    <a:pt x="0" y="0"/>
                  </a:moveTo>
                  <a:lnTo>
                    <a:pt x="367989" y="0"/>
                  </a:lnTo>
                  <a:lnTo>
                    <a:pt x="367989" y="70202"/>
                  </a:lnTo>
                  <a:lnTo>
                    <a:pt x="0" y="70202"/>
                  </a:lnTo>
                  <a:close/>
                </a:path>
              </a:pathLst>
            </a:custGeom>
            <a:solidFill>
              <a:srgbClr val="F4A0A0">
                <a:alpha val="5882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67989" cy="108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4276" y="5852413"/>
            <a:ext cx="1397206" cy="266548"/>
            <a:chOff x="0" y="0"/>
            <a:chExt cx="367989" cy="702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7989" cy="70202"/>
            </a:xfrm>
            <a:custGeom>
              <a:avLst/>
              <a:gdLst/>
              <a:ahLst/>
              <a:cxnLst/>
              <a:rect r="r" b="b" t="t" l="l"/>
              <a:pathLst>
                <a:path h="70202" w="367989">
                  <a:moveTo>
                    <a:pt x="0" y="0"/>
                  </a:moveTo>
                  <a:lnTo>
                    <a:pt x="367989" y="0"/>
                  </a:lnTo>
                  <a:lnTo>
                    <a:pt x="367989" y="70202"/>
                  </a:lnTo>
                  <a:lnTo>
                    <a:pt x="0" y="70202"/>
                  </a:lnTo>
                  <a:close/>
                </a:path>
              </a:pathLst>
            </a:custGeom>
            <a:solidFill>
              <a:srgbClr val="F4A0A0">
                <a:alpha val="5882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67989" cy="108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4276" y="6561327"/>
            <a:ext cx="1397206" cy="266548"/>
            <a:chOff x="0" y="0"/>
            <a:chExt cx="367989" cy="702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7989" cy="70202"/>
            </a:xfrm>
            <a:custGeom>
              <a:avLst/>
              <a:gdLst/>
              <a:ahLst/>
              <a:cxnLst/>
              <a:rect r="r" b="b" t="t" l="l"/>
              <a:pathLst>
                <a:path h="70202" w="367989">
                  <a:moveTo>
                    <a:pt x="0" y="0"/>
                  </a:moveTo>
                  <a:lnTo>
                    <a:pt x="367989" y="0"/>
                  </a:lnTo>
                  <a:lnTo>
                    <a:pt x="367989" y="70202"/>
                  </a:lnTo>
                  <a:lnTo>
                    <a:pt x="0" y="70202"/>
                  </a:lnTo>
                  <a:close/>
                </a:path>
              </a:pathLst>
            </a:custGeom>
            <a:solidFill>
              <a:srgbClr val="F4A0A0">
                <a:alpha val="58824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67989" cy="108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521668" y="596540"/>
            <a:ext cx="7723563" cy="1034501"/>
            <a:chOff x="0" y="0"/>
            <a:chExt cx="2113625" cy="2831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13625" cy="283101"/>
            </a:xfrm>
            <a:custGeom>
              <a:avLst/>
              <a:gdLst/>
              <a:ahLst/>
              <a:cxnLst/>
              <a:rect r="r" b="b" t="t" l="l"/>
              <a:pathLst>
                <a:path h="283101" w="2113625">
                  <a:moveTo>
                    <a:pt x="37088" y="0"/>
                  </a:moveTo>
                  <a:lnTo>
                    <a:pt x="2076537" y="0"/>
                  </a:lnTo>
                  <a:cubicBezTo>
                    <a:pt x="2086373" y="0"/>
                    <a:pt x="2095807" y="3907"/>
                    <a:pt x="2102762" y="10863"/>
                  </a:cubicBezTo>
                  <a:cubicBezTo>
                    <a:pt x="2109717" y="17818"/>
                    <a:pt x="2113625" y="27252"/>
                    <a:pt x="2113625" y="37088"/>
                  </a:cubicBezTo>
                  <a:lnTo>
                    <a:pt x="2113625" y="246013"/>
                  </a:lnTo>
                  <a:cubicBezTo>
                    <a:pt x="2113625" y="255849"/>
                    <a:pt x="2109717" y="265283"/>
                    <a:pt x="2102762" y="272238"/>
                  </a:cubicBezTo>
                  <a:cubicBezTo>
                    <a:pt x="2095807" y="279193"/>
                    <a:pt x="2086373" y="283101"/>
                    <a:pt x="2076537" y="283101"/>
                  </a:cubicBezTo>
                  <a:lnTo>
                    <a:pt x="37088" y="283101"/>
                  </a:lnTo>
                  <a:cubicBezTo>
                    <a:pt x="27252" y="283101"/>
                    <a:pt x="17818" y="279193"/>
                    <a:pt x="10863" y="272238"/>
                  </a:cubicBezTo>
                  <a:cubicBezTo>
                    <a:pt x="3907" y="265283"/>
                    <a:pt x="0" y="255849"/>
                    <a:pt x="0" y="246013"/>
                  </a:cubicBezTo>
                  <a:lnTo>
                    <a:pt x="0" y="37088"/>
                  </a:lnTo>
                  <a:cubicBezTo>
                    <a:pt x="0" y="27252"/>
                    <a:pt x="3907" y="17818"/>
                    <a:pt x="10863" y="10863"/>
                  </a:cubicBezTo>
                  <a:cubicBezTo>
                    <a:pt x="17818" y="3907"/>
                    <a:pt x="27252" y="0"/>
                    <a:pt x="370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113625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47494" y="686117"/>
            <a:ext cx="71906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管理者端操作畫面介紹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資料匯入、匯出備份 :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各種媒體資料儲存 :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資料介接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804" y="3161288"/>
            <a:ext cx="17010283" cy="629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結構化資料儲存：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採用Google Firebase Firestore作為分散式資料庫，儲存使用者、景點、美食及自訂行程等文字與地理座標資料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媒體資料儲存與轉換：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圖片等媒體檔案儲存於Google Drive。App介接時，透過自訂的網址轉換演算法，將預覽用連結動態解析為直接串流網址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敏感資訊隔離：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專案所涉之 API 金鑰放至 .env檔中，確保安全性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278291" y="190500"/>
            <a:ext cx="10754029" cy="9826494"/>
          </a:xfrm>
          <a:custGeom>
            <a:avLst/>
            <a:gdLst/>
            <a:ahLst/>
            <a:cxnLst/>
            <a:rect r="r" b="b" t="t" l="l"/>
            <a:pathLst>
              <a:path h="9826494" w="10754029">
                <a:moveTo>
                  <a:pt x="0" y="0"/>
                </a:moveTo>
                <a:lnTo>
                  <a:pt x="10754029" y="0"/>
                </a:lnTo>
                <a:lnTo>
                  <a:pt x="10754029" y="9826494"/>
                </a:lnTo>
                <a:lnTo>
                  <a:pt x="0" y="9826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資料 Schema 設計 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資料介接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外部資料處理與App資料介接方式 :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資料介接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804" y="3161288"/>
            <a:ext cx="17010283" cy="550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內部 Firestore 資料介接 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利用 Dart 的 Stream 機制對 Firestore 進行即時監聽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外部天氣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資料處理 (中央氣象署 API)：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透過 http.get 向中央氣象署全球開放資料平台發送RESTful請求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外部交通資料處理 (TDX 運輸資料流通服務)：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向 TDX 請求嘉義市公共自行車即時站點資訊。解析出各站點經緯度後，動態轉換為地圖套件（flutter_map）的 Marker 物件，將交通動態圖層融合進主地圖中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導覽生成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804" y="3161288"/>
            <a:ext cx="17010283" cy="619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面臨挑戰：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舊版模型 Token 上限與通訊協定限制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生成多天份長篇行程時，常發生文字中斷與Markdown 排版錯亂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解決方案：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導入 Generative 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SDK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使用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gemini-2.5-flash </a:t>
            </a:r>
          </a:p>
          <a:p>
            <a:pPr algn="l">
              <a:lnSpc>
                <a:spcPts val="6289"/>
              </a:lnSpc>
            </a:pPr>
          </a:p>
          <a:p>
            <a:pPr algn="l">
              <a:lnSpc>
                <a:spcPts val="475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技術突破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地圖頁面架構與效能優化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804" y="3161288"/>
            <a:ext cx="17010283" cy="698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面臨挑戰：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需同時整合 Firest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ore 靜態景點、動態自訂行程、TDX 即時腳踏車站點 API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多重 API 載入時間差容易引發畫面卡頓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解決方案：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即時串流資料：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交由 StreamBuilder 獨立綁定與管理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一次性網路動態資料（如交通）：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於 initState 階段執行非同步觸發</a:t>
            </a:r>
          </a:p>
          <a:p>
            <a:pPr algn="l">
              <a:lnSpc>
                <a:spcPts val="6289"/>
              </a:lnSpc>
            </a:pPr>
          </a:p>
          <a:p>
            <a:pPr algn="l">
              <a:lnSpc>
                <a:spcPts val="6289"/>
              </a:lnSpc>
            </a:pPr>
          </a:p>
          <a:p>
            <a:pPr algn="l">
              <a:lnSpc>
                <a:spcPts val="475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技術突破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2439586"/>
            <a:ext cx="16637496" cy="629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一站式資訊整合：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成功建立結構化的嘉義美食與景點資料庫，消除過去觀光資訊碎片化的痛點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即時數據應用： 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介接 TDX 平台與 OpenStreetMap，提供旅客秒級同步的公車與 UBike 站點動態，大幅提升旅遊便利性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人機協作實踐： 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導入 Google Gemini AI 智慧排程，為旅客量身打造個人化行程，並在開發過程中實踐了 AI 增強開發的創新思維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521668" y="596540"/>
            <a:ext cx="4536442" cy="1034501"/>
            <a:chOff x="0" y="0"/>
            <a:chExt cx="1241440" cy="283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1440" cy="283101"/>
            </a:xfrm>
            <a:custGeom>
              <a:avLst/>
              <a:gdLst/>
              <a:ahLst/>
              <a:cxnLst/>
              <a:rect r="r" b="b" t="t" l="l"/>
              <a:pathLst>
                <a:path h="283101" w="1241440">
                  <a:moveTo>
                    <a:pt x="63144" y="0"/>
                  </a:moveTo>
                  <a:lnTo>
                    <a:pt x="1178295" y="0"/>
                  </a:lnTo>
                  <a:cubicBezTo>
                    <a:pt x="1195042" y="0"/>
                    <a:pt x="1211103" y="6653"/>
                    <a:pt x="1222945" y="18495"/>
                  </a:cubicBezTo>
                  <a:cubicBezTo>
                    <a:pt x="1234787" y="30336"/>
                    <a:pt x="1241440" y="46397"/>
                    <a:pt x="1241440" y="63144"/>
                  </a:cubicBezTo>
                  <a:lnTo>
                    <a:pt x="1241440" y="219956"/>
                  </a:lnTo>
                  <a:cubicBezTo>
                    <a:pt x="1241440" y="236703"/>
                    <a:pt x="1234787" y="252764"/>
                    <a:pt x="1222945" y="264606"/>
                  </a:cubicBezTo>
                  <a:cubicBezTo>
                    <a:pt x="1211103" y="276448"/>
                    <a:pt x="1195042" y="283101"/>
                    <a:pt x="1178295" y="283101"/>
                  </a:cubicBezTo>
                  <a:lnTo>
                    <a:pt x="63144" y="283101"/>
                  </a:lnTo>
                  <a:cubicBezTo>
                    <a:pt x="28271" y="283101"/>
                    <a:pt x="0" y="254830"/>
                    <a:pt x="0" y="219956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41440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21804" y="686117"/>
            <a:ext cx="404150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結論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0564" y="-7196774"/>
            <a:ext cx="15411352" cy="23152346"/>
            <a:chOff x="0" y="0"/>
            <a:chExt cx="20548469" cy="3086979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6387" y="17004375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964422" y="2037602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55752" y="2037602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1804" y="3266063"/>
            <a:ext cx="17010283" cy="312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1114536 劉又榛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行程規劃、探索頁面、資訊卡、資料庫管理</a:t>
            </a:r>
          </a:p>
          <a:p>
            <a:pPr algn="l" marL="734059" indent="-367030" lvl="1">
              <a:lnSpc>
                <a:spcPts val="628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1122928 呂天馨</a:t>
            </a:r>
          </a:p>
          <a:p>
            <a:pPr algn="l" marL="1468119" indent="-489373" lvl="2">
              <a:lnSpc>
                <a:spcPts val="6289"/>
              </a:lnSpc>
              <a:buFont typeface="Arial"/>
              <a:buChar char="⚬"/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最新消息、交通頁面、AI 助手、UI設計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521668" y="596540"/>
            <a:ext cx="8848860" cy="1034501"/>
            <a:chOff x="0" y="0"/>
            <a:chExt cx="2421573" cy="283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21573" cy="283101"/>
            </a:xfrm>
            <a:custGeom>
              <a:avLst/>
              <a:gdLst/>
              <a:ahLst/>
              <a:cxnLst/>
              <a:rect r="r" b="b" t="t" l="l"/>
              <a:pathLst>
                <a:path h="283101" w="2421573">
                  <a:moveTo>
                    <a:pt x="32372" y="0"/>
                  </a:moveTo>
                  <a:lnTo>
                    <a:pt x="2389201" y="0"/>
                  </a:lnTo>
                  <a:cubicBezTo>
                    <a:pt x="2397787" y="0"/>
                    <a:pt x="2406021" y="3411"/>
                    <a:pt x="2412092" y="9481"/>
                  </a:cubicBezTo>
                  <a:cubicBezTo>
                    <a:pt x="2418162" y="15552"/>
                    <a:pt x="2421573" y="23786"/>
                    <a:pt x="2421573" y="32372"/>
                  </a:cubicBezTo>
                  <a:lnTo>
                    <a:pt x="2421573" y="250729"/>
                  </a:lnTo>
                  <a:cubicBezTo>
                    <a:pt x="2421573" y="259315"/>
                    <a:pt x="2418162" y="267549"/>
                    <a:pt x="2412092" y="273619"/>
                  </a:cubicBezTo>
                  <a:cubicBezTo>
                    <a:pt x="2406021" y="279690"/>
                    <a:pt x="2397787" y="283101"/>
                    <a:pt x="2389201" y="283101"/>
                  </a:cubicBezTo>
                  <a:lnTo>
                    <a:pt x="32372" y="283101"/>
                  </a:lnTo>
                  <a:cubicBezTo>
                    <a:pt x="14493" y="283101"/>
                    <a:pt x="0" y="268608"/>
                    <a:pt x="0" y="250729"/>
                  </a:cubicBezTo>
                  <a:lnTo>
                    <a:pt x="0" y="32372"/>
                  </a:lnTo>
                  <a:cubicBezTo>
                    <a:pt x="0" y="23786"/>
                    <a:pt x="3411" y="15552"/>
                    <a:pt x="9481" y="9481"/>
                  </a:cubicBezTo>
                  <a:cubicBezTo>
                    <a:pt x="15552" y="3411"/>
                    <a:pt x="23786" y="0"/>
                    <a:pt x="323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421573" cy="31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21804" y="686117"/>
            <a:ext cx="7366056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3999" spc="999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組內分工比例與心得分享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804" y="2104648"/>
            <a:ext cx="1103350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組內分工比例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7976" y="-6707799"/>
            <a:ext cx="15411352" cy="22663371"/>
            <a:chOff x="0" y="0"/>
            <a:chExt cx="20548469" cy="3021782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4310235" y="16352408"/>
              <a:ext cx="13865420" cy="138654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C7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48469" cy="20548469"/>
            </a:xfrm>
            <a:custGeom>
              <a:avLst/>
              <a:gdLst/>
              <a:ahLst/>
              <a:cxnLst/>
              <a:rect r="r" b="b" t="t" l="l"/>
              <a:pathLst>
                <a:path h="20548469" w="20548469">
                  <a:moveTo>
                    <a:pt x="0" y="0"/>
                  </a:moveTo>
                  <a:lnTo>
                    <a:pt x="20548469" y="0"/>
                  </a:lnTo>
                  <a:lnTo>
                    <a:pt x="20548469" y="20548469"/>
                  </a:lnTo>
                  <a:lnTo>
                    <a:pt x="0" y="205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188271" y="1385635"/>
              <a:ext cx="12708861" cy="127088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779601" y="1385635"/>
              <a:ext cx="14352703" cy="1435270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47625" cap="sq">
                <a:gradFill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C7C9FF">
                        <a:alpha val="1775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876380" y="3794125"/>
            <a:ext cx="4535239" cy="233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DAHLlNNGAyk</dc:identifier>
  <dcterms:modified xsi:type="dcterms:W3CDTF">2011-08-01T06:04:30Z</dcterms:modified>
  <cp:revision>1</cp:revision>
  <dc:title>03_PRJ_FINAL_id</dc:title>
</cp:coreProperties>
</file>